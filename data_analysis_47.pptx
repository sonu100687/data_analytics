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1B212C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B212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B212C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B212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B212C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EDF1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501336"/>
            <a:ext cx="1123315" cy="711200"/>
          </a:xfrm>
          <a:custGeom>
            <a:avLst/>
            <a:gdLst/>
            <a:ahLst/>
            <a:cxnLst/>
            <a:rect l="l" t="t" r="r" b="b"/>
            <a:pathLst>
              <a:path w="1123315" h="711200">
                <a:moveTo>
                  <a:pt x="866089" y="711181"/>
                </a:moveTo>
                <a:lnTo>
                  <a:pt x="0" y="711181"/>
                </a:lnTo>
                <a:lnTo>
                  <a:pt x="0" y="0"/>
                </a:lnTo>
                <a:lnTo>
                  <a:pt x="866089" y="0"/>
                </a:lnTo>
                <a:lnTo>
                  <a:pt x="912323" y="4143"/>
                </a:lnTo>
                <a:lnTo>
                  <a:pt x="955837" y="16091"/>
                </a:lnTo>
                <a:lnTo>
                  <a:pt x="995906" y="35116"/>
                </a:lnTo>
                <a:lnTo>
                  <a:pt x="1031804" y="60491"/>
                </a:lnTo>
                <a:lnTo>
                  <a:pt x="1062804" y="91491"/>
                </a:lnTo>
                <a:lnTo>
                  <a:pt x="1088179" y="127389"/>
                </a:lnTo>
                <a:lnTo>
                  <a:pt x="1107204" y="167458"/>
                </a:lnTo>
                <a:lnTo>
                  <a:pt x="1119152" y="210973"/>
                </a:lnTo>
                <a:lnTo>
                  <a:pt x="1123295" y="257206"/>
                </a:lnTo>
                <a:lnTo>
                  <a:pt x="1123295" y="453975"/>
                </a:lnTo>
                <a:lnTo>
                  <a:pt x="1119152" y="500209"/>
                </a:lnTo>
                <a:lnTo>
                  <a:pt x="1107204" y="543723"/>
                </a:lnTo>
                <a:lnTo>
                  <a:pt x="1088179" y="583792"/>
                </a:lnTo>
                <a:lnTo>
                  <a:pt x="1062804" y="619690"/>
                </a:lnTo>
                <a:lnTo>
                  <a:pt x="1031804" y="650690"/>
                </a:lnTo>
                <a:lnTo>
                  <a:pt x="995906" y="676065"/>
                </a:lnTo>
                <a:lnTo>
                  <a:pt x="955837" y="695090"/>
                </a:lnTo>
                <a:lnTo>
                  <a:pt x="912323" y="707038"/>
                </a:lnTo>
                <a:lnTo>
                  <a:pt x="866089" y="711181"/>
                </a:lnTo>
                <a:close/>
              </a:path>
            </a:pathLst>
          </a:custGeom>
          <a:solidFill>
            <a:srgbClr val="FACE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064900" y="2824625"/>
            <a:ext cx="1575435" cy="1575435"/>
          </a:xfrm>
          <a:custGeom>
            <a:avLst/>
            <a:gdLst/>
            <a:ahLst/>
            <a:cxnLst/>
            <a:rect l="l" t="t" r="r" b="b"/>
            <a:pathLst>
              <a:path w="1575434" h="1575435">
                <a:moveTo>
                  <a:pt x="1328717" y="1574994"/>
                </a:moveTo>
                <a:lnTo>
                  <a:pt x="246281" y="1574994"/>
                </a:lnTo>
                <a:lnTo>
                  <a:pt x="196647" y="1569990"/>
                </a:lnTo>
                <a:lnTo>
                  <a:pt x="150417" y="1555640"/>
                </a:lnTo>
                <a:lnTo>
                  <a:pt x="108583" y="1532933"/>
                </a:lnTo>
                <a:lnTo>
                  <a:pt x="72134" y="1502859"/>
                </a:lnTo>
                <a:lnTo>
                  <a:pt x="42061" y="1466410"/>
                </a:lnTo>
                <a:lnTo>
                  <a:pt x="19354" y="1424576"/>
                </a:lnTo>
                <a:lnTo>
                  <a:pt x="5003" y="1378346"/>
                </a:lnTo>
                <a:lnTo>
                  <a:pt x="0" y="1328711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7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1328717" y="0"/>
                </a:lnTo>
                <a:lnTo>
                  <a:pt x="1376988" y="4775"/>
                </a:lnTo>
                <a:lnTo>
                  <a:pt x="1422965" y="18747"/>
                </a:lnTo>
                <a:lnTo>
                  <a:pt x="1465354" y="41378"/>
                </a:lnTo>
                <a:lnTo>
                  <a:pt x="1502864" y="72134"/>
                </a:lnTo>
                <a:lnTo>
                  <a:pt x="1533620" y="109644"/>
                </a:lnTo>
                <a:lnTo>
                  <a:pt x="1556252" y="152033"/>
                </a:lnTo>
                <a:lnTo>
                  <a:pt x="1570223" y="198010"/>
                </a:lnTo>
                <a:lnTo>
                  <a:pt x="1574999" y="246281"/>
                </a:lnTo>
                <a:lnTo>
                  <a:pt x="1574999" y="1328711"/>
                </a:lnTo>
                <a:lnTo>
                  <a:pt x="1569995" y="1378346"/>
                </a:lnTo>
                <a:lnTo>
                  <a:pt x="1555645" y="1424576"/>
                </a:lnTo>
                <a:lnTo>
                  <a:pt x="1532938" y="1466410"/>
                </a:lnTo>
                <a:lnTo>
                  <a:pt x="1502864" y="1502859"/>
                </a:lnTo>
                <a:lnTo>
                  <a:pt x="1466415" y="1532933"/>
                </a:lnTo>
                <a:lnTo>
                  <a:pt x="1424581" y="1555640"/>
                </a:lnTo>
                <a:lnTo>
                  <a:pt x="1378351" y="1569990"/>
                </a:lnTo>
                <a:lnTo>
                  <a:pt x="1328717" y="1574994"/>
                </a:lnTo>
                <a:close/>
              </a:path>
            </a:pathLst>
          </a:custGeom>
          <a:solidFill>
            <a:srgbClr val="FFFFFF">
              <a:alpha val="6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775581" y="1972128"/>
            <a:ext cx="2416810" cy="2427605"/>
          </a:xfrm>
          <a:custGeom>
            <a:avLst/>
            <a:gdLst/>
            <a:ahLst/>
            <a:cxnLst/>
            <a:rect l="l" t="t" r="r" b="b"/>
            <a:pathLst>
              <a:path w="2416809" h="2427604">
                <a:moveTo>
                  <a:pt x="2416418" y="2427490"/>
                </a:moveTo>
                <a:lnTo>
                  <a:pt x="379586" y="2427490"/>
                </a:lnTo>
                <a:lnTo>
                  <a:pt x="331972" y="2424532"/>
                </a:lnTo>
                <a:lnTo>
                  <a:pt x="286122" y="2415897"/>
                </a:lnTo>
                <a:lnTo>
                  <a:pt x="242393" y="2401939"/>
                </a:lnTo>
                <a:lnTo>
                  <a:pt x="201141" y="2383015"/>
                </a:lnTo>
                <a:lnTo>
                  <a:pt x="162720" y="2359480"/>
                </a:lnTo>
                <a:lnTo>
                  <a:pt x="127488" y="2331691"/>
                </a:lnTo>
                <a:lnTo>
                  <a:pt x="95799" y="2300002"/>
                </a:lnTo>
                <a:lnTo>
                  <a:pt x="68009" y="2264769"/>
                </a:lnTo>
                <a:lnTo>
                  <a:pt x="44474" y="2226349"/>
                </a:lnTo>
                <a:lnTo>
                  <a:pt x="25550" y="2185096"/>
                </a:lnTo>
                <a:lnTo>
                  <a:pt x="11592" y="2141367"/>
                </a:lnTo>
                <a:lnTo>
                  <a:pt x="2957" y="2095517"/>
                </a:lnTo>
                <a:lnTo>
                  <a:pt x="0" y="2047903"/>
                </a:lnTo>
                <a:lnTo>
                  <a:pt x="0" y="379586"/>
                </a:lnTo>
                <a:lnTo>
                  <a:pt x="2957" y="331972"/>
                </a:lnTo>
                <a:lnTo>
                  <a:pt x="11592" y="286122"/>
                </a:lnTo>
                <a:lnTo>
                  <a:pt x="25550" y="242393"/>
                </a:lnTo>
                <a:lnTo>
                  <a:pt x="44474" y="201141"/>
                </a:lnTo>
                <a:lnTo>
                  <a:pt x="68009" y="162720"/>
                </a:lnTo>
                <a:lnTo>
                  <a:pt x="95799" y="127488"/>
                </a:lnTo>
                <a:lnTo>
                  <a:pt x="127488" y="95799"/>
                </a:lnTo>
                <a:lnTo>
                  <a:pt x="162720" y="68009"/>
                </a:lnTo>
                <a:lnTo>
                  <a:pt x="201141" y="44474"/>
                </a:lnTo>
                <a:lnTo>
                  <a:pt x="242393" y="25550"/>
                </a:lnTo>
                <a:lnTo>
                  <a:pt x="286122" y="11592"/>
                </a:lnTo>
                <a:lnTo>
                  <a:pt x="331972" y="2957"/>
                </a:lnTo>
                <a:lnTo>
                  <a:pt x="379586" y="0"/>
                </a:lnTo>
                <a:lnTo>
                  <a:pt x="2416418" y="0"/>
                </a:lnTo>
                <a:lnTo>
                  <a:pt x="2416418" y="24274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775996" y="873577"/>
            <a:ext cx="1575435" cy="963294"/>
          </a:xfrm>
          <a:custGeom>
            <a:avLst/>
            <a:gdLst/>
            <a:ahLst/>
            <a:cxnLst/>
            <a:rect l="l" t="t" r="r" b="b"/>
            <a:pathLst>
              <a:path w="1575434" h="963294">
                <a:moveTo>
                  <a:pt x="1424435" y="962866"/>
                </a:moveTo>
                <a:lnTo>
                  <a:pt x="150563" y="962866"/>
                </a:lnTo>
                <a:lnTo>
                  <a:pt x="102973" y="955191"/>
                </a:lnTo>
                <a:lnTo>
                  <a:pt x="61642" y="933816"/>
                </a:lnTo>
                <a:lnTo>
                  <a:pt x="29049" y="901224"/>
                </a:lnTo>
                <a:lnTo>
                  <a:pt x="7675" y="859893"/>
                </a:lnTo>
                <a:lnTo>
                  <a:pt x="0" y="812303"/>
                </a:lnTo>
                <a:lnTo>
                  <a:pt x="0" y="150563"/>
                </a:lnTo>
                <a:lnTo>
                  <a:pt x="7675" y="102973"/>
                </a:lnTo>
                <a:lnTo>
                  <a:pt x="29049" y="61642"/>
                </a:lnTo>
                <a:lnTo>
                  <a:pt x="61642" y="29050"/>
                </a:lnTo>
                <a:lnTo>
                  <a:pt x="102973" y="7675"/>
                </a:lnTo>
                <a:lnTo>
                  <a:pt x="150563" y="0"/>
                </a:lnTo>
                <a:lnTo>
                  <a:pt x="1424435" y="0"/>
                </a:lnTo>
                <a:lnTo>
                  <a:pt x="1482053" y="11460"/>
                </a:lnTo>
                <a:lnTo>
                  <a:pt x="1530899" y="44099"/>
                </a:lnTo>
                <a:lnTo>
                  <a:pt x="1563537" y="92945"/>
                </a:lnTo>
                <a:lnTo>
                  <a:pt x="1574998" y="150563"/>
                </a:lnTo>
                <a:lnTo>
                  <a:pt x="1574998" y="812303"/>
                </a:lnTo>
                <a:lnTo>
                  <a:pt x="1567323" y="859893"/>
                </a:lnTo>
                <a:lnTo>
                  <a:pt x="1545948" y="901224"/>
                </a:lnTo>
                <a:lnTo>
                  <a:pt x="1513356" y="933816"/>
                </a:lnTo>
                <a:lnTo>
                  <a:pt x="1472024" y="955191"/>
                </a:lnTo>
                <a:lnTo>
                  <a:pt x="1424435" y="962866"/>
                </a:lnTo>
                <a:close/>
              </a:path>
            </a:pathLst>
          </a:custGeom>
          <a:solidFill>
            <a:srgbClr val="D8E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772363" y="4546617"/>
            <a:ext cx="709930" cy="711200"/>
          </a:xfrm>
          <a:custGeom>
            <a:avLst/>
            <a:gdLst/>
            <a:ahLst/>
            <a:cxnLst/>
            <a:rect l="l" t="t" r="r" b="b"/>
            <a:pathLst>
              <a:path w="709929" h="711200">
                <a:moveTo>
                  <a:pt x="452961" y="711181"/>
                </a:moveTo>
                <a:lnTo>
                  <a:pt x="256631" y="711181"/>
                </a:lnTo>
                <a:lnTo>
                  <a:pt x="210501" y="707047"/>
                </a:lnTo>
                <a:lnTo>
                  <a:pt x="167084" y="695126"/>
                </a:lnTo>
                <a:lnTo>
                  <a:pt x="127104" y="676144"/>
                </a:lnTo>
                <a:lnTo>
                  <a:pt x="91287" y="650825"/>
                </a:lnTo>
                <a:lnTo>
                  <a:pt x="60356" y="619894"/>
                </a:lnTo>
                <a:lnTo>
                  <a:pt x="35037" y="584077"/>
                </a:lnTo>
                <a:lnTo>
                  <a:pt x="16055" y="544097"/>
                </a:lnTo>
                <a:lnTo>
                  <a:pt x="4134" y="500680"/>
                </a:lnTo>
                <a:lnTo>
                  <a:pt x="0" y="454550"/>
                </a:lnTo>
                <a:lnTo>
                  <a:pt x="0" y="256631"/>
                </a:lnTo>
                <a:lnTo>
                  <a:pt x="4134" y="210501"/>
                </a:lnTo>
                <a:lnTo>
                  <a:pt x="16055" y="167084"/>
                </a:lnTo>
                <a:lnTo>
                  <a:pt x="35037" y="127104"/>
                </a:lnTo>
                <a:lnTo>
                  <a:pt x="60356" y="91287"/>
                </a:lnTo>
                <a:lnTo>
                  <a:pt x="91287" y="60356"/>
                </a:lnTo>
                <a:lnTo>
                  <a:pt x="127104" y="35037"/>
                </a:lnTo>
                <a:lnTo>
                  <a:pt x="167084" y="16055"/>
                </a:lnTo>
                <a:lnTo>
                  <a:pt x="210501" y="4134"/>
                </a:lnTo>
                <a:lnTo>
                  <a:pt x="256631" y="0"/>
                </a:lnTo>
                <a:lnTo>
                  <a:pt x="452961" y="0"/>
                </a:lnTo>
                <a:lnTo>
                  <a:pt x="503262" y="4976"/>
                </a:lnTo>
                <a:lnTo>
                  <a:pt x="551170" y="19534"/>
                </a:lnTo>
                <a:lnTo>
                  <a:pt x="595341" y="43116"/>
                </a:lnTo>
                <a:lnTo>
                  <a:pt x="634428" y="75165"/>
                </a:lnTo>
                <a:lnTo>
                  <a:pt x="666476" y="114252"/>
                </a:lnTo>
                <a:lnTo>
                  <a:pt x="690058" y="158422"/>
                </a:lnTo>
                <a:lnTo>
                  <a:pt x="704617" y="206331"/>
                </a:lnTo>
                <a:lnTo>
                  <a:pt x="709593" y="256631"/>
                </a:lnTo>
                <a:lnTo>
                  <a:pt x="709593" y="454550"/>
                </a:lnTo>
                <a:lnTo>
                  <a:pt x="705459" y="500680"/>
                </a:lnTo>
                <a:lnTo>
                  <a:pt x="693538" y="544097"/>
                </a:lnTo>
                <a:lnTo>
                  <a:pt x="674556" y="584077"/>
                </a:lnTo>
                <a:lnTo>
                  <a:pt x="649237" y="619894"/>
                </a:lnTo>
                <a:lnTo>
                  <a:pt x="618306" y="650825"/>
                </a:lnTo>
                <a:lnTo>
                  <a:pt x="582489" y="676144"/>
                </a:lnTo>
                <a:lnTo>
                  <a:pt x="542509" y="695126"/>
                </a:lnTo>
                <a:lnTo>
                  <a:pt x="499091" y="707047"/>
                </a:lnTo>
                <a:lnTo>
                  <a:pt x="452961" y="711181"/>
                </a:lnTo>
                <a:close/>
              </a:path>
            </a:pathLst>
          </a:custGeom>
          <a:solidFill>
            <a:srgbClr val="D8EA61">
              <a:alpha val="3686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064900" y="4546617"/>
            <a:ext cx="1575435" cy="711200"/>
          </a:xfrm>
          <a:custGeom>
            <a:avLst/>
            <a:gdLst/>
            <a:ahLst/>
            <a:cxnLst/>
            <a:rect l="l" t="t" r="r" b="b"/>
            <a:pathLst>
              <a:path w="1575434" h="711200">
                <a:moveTo>
                  <a:pt x="1317792" y="711181"/>
                </a:moveTo>
                <a:lnTo>
                  <a:pt x="257206" y="711181"/>
                </a:lnTo>
                <a:lnTo>
                  <a:pt x="210973" y="707038"/>
                </a:lnTo>
                <a:lnTo>
                  <a:pt x="167458" y="695090"/>
                </a:lnTo>
                <a:lnTo>
                  <a:pt x="127389" y="676065"/>
                </a:lnTo>
                <a:lnTo>
                  <a:pt x="91491" y="650690"/>
                </a:lnTo>
                <a:lnTo>
                  <a:pt x="60491" y="619690"/>
                </a:lnTo>
                <a:lnTo>
                  <a:pt x="35116" y="583792"/>
                </a:lnTo>
                <a:lnTo>
                  <a:pt x="16091" y="543723"/>
                </a:lnTo>
                <a:lnTo>
                  <a:pt x="4143" y="500208"/>
                </a:lnTo>
                <a:lnTo>
                  <a:pt x="0" y="453975"/>
                </a:lnTo>
                <a:lnTo>
                  <a:pt x="0" y="257206"/>
                </a:lnTo>
                <a:lnTo>
                  <a:pt x="4143" y="210973"/>
                </a:lnTo>
                <a:lnTo>
                  <a:pt x="16091" y="167458"/>
                </a:lnTo>
                <a:lnTo>
                  <a:pt x="35116" y="127389"/>
                </a:lnTo>
                <a:lnTo>
                  <a:pt x="60491" y="91491"/>
                </a:lnTo>
                <a:lnTo>
                  <a:pt x="91491" y="60491"/>
                </a:lnTo>
                <a:lnTo>
                  <a:pt x="127389" y="35116"/>
                </a:lnTo>
                <a:lnTo>
                  <a:pt x="167458" y="16091"/>
                </a:lnTo>
                <a:lnTo>
                  <a:pt x="210973" y="4143"/>
                </a:lnTo>
                <a:lnTo>
                  <a:pt x="257206" y="0"/>
                </a:lnTo>
                <a:lnTo>
                  <a:pt x="1317792" y="0"/>
                </a:lnTo>
                <a:lnTo>
                  <a:pt x="1368205" y="4987"/>
                </a:lnTo>
                <a:lnTo>
                  <a:pt x="1416221" y="19578"/>
                </a:lnTo>
                <a:lnTo>
                  <a:pt x="1460491" y="43213"/>
                </a:lnTo>
                <a:lnTo>
                  <a:pt x="1499665" y="75333"/>
                </a:lnTo>
                <a:lnTo>
                  <a:pt x="1531785" y="114508"/>
                </a:lnTo>
                <a:lnTo>
                  <a:pt x="1555420" y="158777"/>
                </a:lnTo>
                <a:lnTo>
                  <a:pt x="1570011" y="206793"/>
                </a:lnTo>
                <a:lnTo>
                  <a:pt x="1574999" y="257206"/>
                </a:lnTo>
                <a:lnTo>
                  <a:pt x="1574999" y="453975"/>
                </a:lnTo>
                <a:lnTo>
                  <a:pt x="1570855" y="500208"/>
                </a:lnTo>
                <a:lnTo>
                  <a:pt x="1558907" y="543723"/>
                </a:lnTo>
                <a:lnTo>
                  <a:pt x="1539882" y="583792"/>
                </a:lnTo>
                <a:lnTo>
                  <a:pt x="1514507" y="619690"/>
                </a:lnTo>
                <a:lnTo>
                  <a:pt x="1483507" y="650690"/>
                </a:lnTo>
                <a:lnTo>
                  <a:pt x="1447609" y="676065"/>
                </a:lnTo>
                <a:lnTo>
                  <a:pt x="1407540" y="695090"/>
                </a:lnTo>
                <a:lnTo>
                  <a:pt x="1364026" y="707038"/>
                </a:lnTo>
                <a:lnTo>
                  <a:pt x="1317792" y="711181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B212C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EDF1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1225" y="741273"/>
            <a:ext cx="676275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1B212C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79240" y="2151190"/>
            <a:ext cx="9766935" cy="3788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B212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2089692"/>
            <a:ext cx="8628380" cy="2128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6000" spc="265" dirty="0"/>
              <a:t>Data</a:t>
            </a:r>
            <a:r>
              <a:rPr sz="6000" spc="-280" dirty="0"/>
              <a:t> </a:t>
            </a:r>
            <a:r>
              <a:rPr sz="6000" spc="55" dirty="0"/>
              <a:t>Analysis</a:t>
            </a:r>
            <a:r>
              <a:rPr sz="6000" spc="-275" dirty="0"/>
              <a:t> </a:t>
            </a:r>
            <a:r>
              <a:rPr sz="6000" spc="-10" dirty="0"/>
              <a:t>Using </a:t>
            </a:r>
            <a:r>
              <a:rPr sz="6000" dirty="0"/>
              <a:t>Matplotlib</a:t>
            </a:r>
            <a:r>
              <a:rPr sz="6000" spc="-155" dirty="0"/>
              <a:t> </a:t>
            </a:r>
            <a:r>
              <a:rPr sz="6000" spc="360" dirty="0"/>
              <a:t>and</a:t>
            </a:r>
            <a:r>
              <a:rPr sz="6000" spc="-150" dirty="0"/>
              <a:t> </a:t>
            </a:r>
            <a:r>
              <a:rPr sz="6000" spc="330" dirty="0"/>
              <a:t>Pandas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85203" y="6062857"/>
            <a:ext cx="1575435" cy="795655"/>
          </a:xfrm>
          <a:custGeom>
            <a:avLst/>
            <a:gdLst/>
            <a:ahLst/>
            <a:cxnLst/>
            <a:rect l="l" t="t" r="r" b="b"/>
            <a:pathLst>
              <a:path w="1575434" h="795654">
                <a:moveTo>
                  <a:pt x="1574999" y="795143"/>
                </a:moveTo>
                <a:lnTo>
                  <a:pt x="0" y="795143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8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1328716" y="0"/>
                </a:lnTo>
                <a:lnTo>
                  <a:pt x="1376988" y="4775"/>
                </a:lnTo>
                <a:lnTo>
                  <a:pt x="1422965" y="18747"/>
                </a:lnTo>
                <a:lnTo>
                  <a:pt x="1465354" y="41378"/>
                </a:lnTo>
                <a:lnTo>
                  <a:pt x="1502864" y="72134"/>
                </a:lnTo>
                <a:lnTo>
                  <a:pt x="1533621" y="109644"/>
                </a:lnTo>
                <a:lnTo>
                  <a:pt x="1556252" y="152033"/>
                </a:lnTo>
                <a:lnTo>
                  <a:pt x="1570223" y="198010"/>
                </a:lnTo>
                <a:lnTo>
                  <a:pt x="1574999" y="246281"/>
                </a:lnTo>
                <a:lnTo>
                  <a:pt x="1574999" y="795143"/>
                </a:lnTo>
                <a:close/>
              </a:path>
            </a:pathLst>
          </a:custGeom>
          <a:solidFill>
            <a:srgbClr val="D8E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36479" y="6062857"/>
            <a:ext cx="709930" cy="711200"/>
          </a:xfrm>
          <a:custGeom>
            <a:avLst/>
            <a:gdLst/>
            <a:ahLst/>
            <a:cxnLst/>
            <a:rect l="l" t="t" r="r" b="b"/>
            <a:pathLst>
              <a:path w="709929" h="711200">
                <a:moveTo>
                  <a:pt x="452962" y="711181"/>
                </a:moveTo>
                <a:lnTo>
                  <a:pt x="256631" y="711181"/>
                </a:lnTo>
                <a:lnTo>
                  <a:pt x="210501" y="707047"/>
                </a:lnTo>
                <a:lnTo>
                  <a:pt x="167084" y="695126"/>
                </a:lnTo>
                <a:lnTo>
                  <a:pt x="127104" y="676144"/>
                </a:lnTo>
                <a:lnTo>
                  <a:pt x="91287" y="650825"/>
                </a:lnTo>
                <a:lnTo>
                  <a:pt x="60356" y="619895"/>
                </a:lnTo>
                <a:lnTo>
                  <a:pt x="35037" y="584077"/>
                </a:lnTo>
                <a:lnTo>
                  <a:pt x="16055" y="544097"/>
                </a:lnTo>
                <a:lnTo>
                  <a:pt x="4134" y="500680"/>
                </a:lnTo>
                <a:lnTo>
                  <a:pt x="0" y="454550"/>
                </a:lnTo>
                <a:lnTo>
                  <a:pt x="0" y="256631"/>
                </a:lnTo>
                <a:lnTo>
                  <a:pt x="4134" y="210501"/>
                </a:lnTo>
                <a:lnTo>
                  <a:pt x="16055" y="167084"/>
                </a:lnTo>
                <a:lnTo>
                  <a:pt x="35037" y="127104"/>
                </a:lnTo>
                <a:lnTo>
                  <a:pt x="60356" y="91287"/>
                </a:lnTo>
                <a:lnTo>
                  <a:pt x="91287" y="60356"/>
                </a:lnTo>
                <a:lnTo>
                  <a:pt x="127104" y="35037"/>
                </a:lnTo>
                <a:lnTo>
                  <a:pt x="167084" y="16055"/>
                </a:lnTo>
                <a:lnTo>
                  <a:pt x="210501" y="4134"/>
                </a:lnTo>
                <a:lnTo>
                  <a:pt x="256631" y="0"/>
                </a:lnTo>
                <a:lnTo>
                  <a:pt x="452962" y="0"/>
                </a:lnTo>
                <a:lnTo>
                  <a:pt x="503262" y="4976"/>
                </a:lnTo>
                <a:lnTo>
                  <a:pt x="551171" y="19534"/>
                </a:lnTo>
                <a:lnTo>
                  <a:pt x="595341" y="43117"/>
                </a:lnTo>
                <a:lnTo>
                  <a:pt x="634428" y="75165"/>
                </a:lnTo>
                <a:lnTo>
                  <a:pt x="666476" y="114252"/>
                </a:lnTo>
                <a:lnTo>
                  <a:pt x="690059" y="158422"/>
                </a:lnTo>
                <a:lnTo>
                  <a:pt x="704617" y="206331"/>
                </a:lnTo>
                <a:lnTo>
                  <a:pt x="709594" y="256631"/>
                </a:lnTo>
                <a:lnTo>
                  <a:pt x="709594" y="454550"/>
                </a:lnTo>
                <a:lnTo>
                  <a:pt x="705459" y="500680"/>
                </a:lnTo>
                <a:lnTo>
                  <a:pt x="693538" y="544097"/>
                </a:lnTo>
                <a:lnTo>
                  <a:pt x="674556" y="584077"/>
                </a:lnTo>
                <a:lnTo>
                  <a:pt x="649237" y="619895"/>
                </a:lnTo>
                <a:lnTo>
                  <a:pt x="618306" y="650825"/>
                </a:lnTo>
                <a:lnTo>
                  <a:pt x="582489" y="676144"/>
                </a:lnTo>
                <a:lnTo>
                  <a:pt x="542509" y="695126"/>
                </a:lnTo>
                <a:lnTo>
                  <a:pt x="499092" y="707047"/>
                </a:lnTo>
                <a:lnTo>
                  <a:pt x="452962" y="7111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36479" y="5215992"/>
            <a:ext cx="2423795" cy="711200"/>
          </a:xfrm>
          <a:custGeom>
            <a:avLst/>
            <a:gdLst/>
            <a:ahLst/>
            <a:cxnLst/>
            <a:rect l="l" t="t" r="r" b="b"/>
            <a:pathLst>
              <a:path w="2423795" h="711200">
                <a:moveTo>
                  <a:pt x="2166515" y="711181"/>
                </a:moveTo>
                <a:lnTo>
                  <a:pt x="257205" y="711181"/>
                </a:lnTo>
                <a:lnTo>
                  <a:pt x="210972" y="707037"/>
                </a:lnTo>
                <a:lnTo>
                  <a:pt x="167458" y="695090"/>
                </a:lnTo>
                <a:lnTo>
                  <a:pt x="127389" y="676065"/>
                </a:lnTo>
                <a:lnTo>
                  <a:pt x="91491" y="650689"/>
                </a:lnTo>
                <a:lnTo>
                  <a:pt x="60491" y="619690"/>
                </a:lnTo>
                <a:lnTo>
                  <a:pt x="35116" y="583792"/>
                </a:lnTo>
                <a:lnTo>
                  <a:pt x="16091" y="543723"/>
                </a:lnTo>
                <a:lnTo>
                  <a:pt x="4143" y="500208"/>
                </a:lnTo>
                <a:lnTo>
                  <a:pt x="0" y="453975"/>
                </a:lnTo>
                <a:lnTo>
                  <a:pt x="0" y="257205"/>
                </a:lnTo>
                <a:lnTo>
                  <a:pt x="4143" y="210972"/>
                </a:lnTo>
                <a:lnTo>
                  <a:pt x="16091" y="167458"/>
                </a:lnTo>
                <a:lnTo>
                  <a:pt x="35116" y="127389"/>
                </a:lnTo>
                <a:lnTo>
                  <a:pt x="60491" y="91491"/>
                </a:lnTo>
                <a:lnTo>
                  <a:pt x="91491" y="60491"/>
                </a:lnTo>
                <a:lnTo>
                  <a:pt x="127389" y="35116"/>
                </a:lnTo>
                <a:lnTo>
                  <a:pt x="167458" y="16091"/>
                </a:lnTo>
                <a:lnTo>
                  <a:pt x="210972" y="4143"/>
                </a:lnTo>
                <a:lnTo>
                  <a:pt x="257205" y="0"/>
                </a:lnTo>
                <a:lnTo>
                  <a:pt x="2166515" y="0"/>
                </a:lnTo>
                <a:lnTo>
                  <a:pt x="2216928" y="4987"/>
                </a:lnTo>
                <a:lnTo>
                  <a:pt x="2264944" y="19578"/>
                </a:lnTo>
                <a:lnTo>
                  <a:pt x="2309213" y="43213"/>
                </a:lnTo>
                <a:lnTo>
                  <a:pt x="2348387" y="75333"/>
                </a:lnTo>
                <a:lnTo>
                  <a:pt x="2380508" y="114507"/>
                </a:lnTo>
                <a:lnTo>
                  <a:pt x="2404143" y="158777"/>
                </a:lnTo>
                <a:lnTo>
                  <a:pt x="2418734" y="206793"/>
                </a:lnTo>
                <a:lnTo>
                  <a:pt x="2423722" y="257205"/>
                </a:lnTo>
                <a:lnTo>
                  <a:pt x="2423722" y="453975"/>
                </a:lnTo>
                <a:lnTo>
                  <a:pt x="2419578" y="500208"/>
                </a:lnTo>
                <a:lnTo>
                  <a:pt x="2407630" y="543723"/>
                </a:lnTo>
                <a:lnTo>
                  <a:pt x="2388606" y="583792"/>
                </a:lnTo>
                <a:lnTo>
                  <a:pt x="2363230" y="619690"/>
                </a:lnTo>
                <a:lnTo>
                  <a:pt x="2332230" y="650689"/>
                </a:lnTo>
                <a:lnTo>
                  <a:pt x="2296332" y="676065"/>
                </a:lnTo>
                <a:lnTo>
                  <a:pt x="2256263" y="695090"/>
                </a:lnTo>
                <a:lnTo>
                  <a:pt x="2212749" y="707037"/>
                </a:lnTo>
                <a:lnTo>
                  <a:pt x="2166515" y="7111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17457" y="5215992"/>
            <a:ext cx="1575435" cy="1575435"/>
          </a:xfrm>
          <a:custGeom>
            <a:avLst/>
            <a:gdLst/>
            <a:ahLst/>
            <a:cxnLst/>
            <a:rect l="l" t="t" r="r" b="b"/>
            <a:pathLst>
              <a:path w="1575434" h="1575434">
                <a:moveTo>
                  <a:pt x="1328717" y="1574993"/>
                </a:moveTo>
                <a:lnTo>
                  <a:pt x="246282" y="1574993"/>
                </a:lnTo>
                <a:lnTo>
                  <a:pt x="196648" y="1569990"/>
                </a:lnTo>
                <a:lnTo>
                  <a:pt x="150418" y="1555639"/>
                </a:lnTo>
                <a:lnTo>
                  <a:pt x="108583" y="1532932"/>
                </a:lnTo>
                <a:lnTo>
                  <a:pt x="72134" y="1502859"/>
                </a:lnTo>
                <a:lnTo>
                  <a:pt x="42061" y="1466410"/>
                </a:lnTo>
                <a:lnTo>
                  <a:pt x="19354" y="1424576"/>
                </a:lnTo>
                <a:lnTo>
                  <a:pt x="5003" y="1378346"/>
                </a:lnTo>
                <a:lnTo>
                  <a:pt x="0" y="1328711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8" y="19354"/>
                </a:lnTo>
                <a:lnTo>
                  <a:pt x="196648" y="5003"/>
                </a:lnTo>
                <a:lnTo>
                  <a:pt x="246282" y="0"/>
                </a:lnTo>
                <a:lnTo>
                  <a:pt x="1328717" y="0"/>
                </a:lnTo>
                <a:lnTo>
                  <a:pt x="1376989" y="4775"/>
                </a:lnTo>
                <a:lnTo>
                  <a:pt x="1422965" y="18746"/>
                </a:lnTo>
                <a:lnTo>
                  <a:pt x="1465354" y="41378"/>
                </a:lnTo>
                <a:lnTo>
                  <a:pt x="1502864" y="72133"/>
                </a:lnTo>
                <a:lnTo>
                  <a:pt x="1533621" y="109644"/>
                </a:lnTo>
                <a:lnTo>
                  <a:pt x="1556252" y="152033"/>
                </a:lnTo>
                <a:lnTo>
                  <a:pt x="1570223" y="198009"/>
                </a:lnTo>
                <a:lnTo>
                  <a:pt x="1574999" y="246281"/>
                </a:lnTo>
                <a:lnTo>
                  <a:pt x="1574999" y="1328711"/>
                </a:lnTo>
                <a:lnTo>
                  <a:pt x="1569995" y="1378346"/>
                </a:lnTo>
                <a:lnTo>
                  <a:pt x="1555645" y="1424576"/>
                </a:lnTo>
                <a:lnTo>
                  <a:pt x="1532938" y="1466410"/>
                </a:lnTo>
                <a:lnTo>
                  <a:pt x="1502865" y="1502859"/>
                </a:lnTo>
                <a:lnTo>
                  <a:pt x="1466416" y="1532932"/>
                </a:lnTo>
                <a:lnTo>
                  <a:pt x="1424581" y="1555639"/>
                </a:lnTo>
                <a:lnTo>
                  <a:pt x="1378351" y="1569990"/>
                </a:lnTo>
                <a:lnTo>
                  <a:pt x="1328717" y="1574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63840" y="5215992"/>
            <a:ext cx="709930" cy="711200"/>
          </a:xfrm>
          <a:custGeom>
            <a:avLst/>
            <a:gdLst/>
            <a:ahLst/>
            <a:cxnLst/>
            <a:rect l="l" t="t" r="r" b="b"/>
            <a:pathLst>
              <a:path w="709929" h="711200">
                <a:moveTo>
                  <a:pt x="452961" y="711181"/>
                </a:moveTo>
                <a:lnTo>
                  <a:pt x="256631" y="711181"/>
                </a:lnTo>
                <a:lnTo>
                  <a:pt x="210501" y="707046"/>
                </a:lnTo>
                <a:lnTo>
                  <a:pt x="167084" y="695126"/>
                </a:lnTo>
                <a:lnTo>
                  <a:pt x="127104" y="676143"/>
                </a:lnTo>
                <a:lnTo>
                  <a:pt x="91287" y="650825"/>
                </a:lnTo>
                <a:lnTo>
                  <a:pt x="60356" y="619894"/>
                </a:lnTo>
                <a:lnTo>
                  <a:pt x="35037" y="584076"/>
                </a:lnTo>
                <a:lnTo>
                  <a:pt x="16055" y="544097"/>
                </a:lnTo>
                <a:lnTo>
                  <a:pt x="4134" y="500679"/>
                </a:lnTo>
                <a:lnTo>
                  <a:pt x="0" y="454549"/>
                </a:lnTo>
                <a:lnTo>
                  <a:pt x="0" y="256631"/>
                </a:lnTo>
                <a:lnTo>
                  <a:pt x="4134" y="210501"/>
                </a:lnTo>
                <a:lnTo>
                  <a:pt x="16055" y="167084"/>
                </a:lnTo>
                <a:lnTo>
                  <a:pt x="35037" y="127104"/>
                </a:lnTo>
                <a:lnTo>
                  <a:pt x="60356" y="91287"/>
                </a:lnTo>
                <a:lnTo>
                  <a:pt x="91287" y="60356"/>
                </a:lnTo>
                <a:lnTo>
                  <a:pt x="127104" y="35037"/>
                </a:lnTo>
                <a:lnTo>
                  <a:pt x="167084" y="16055"/>
                </a:lnTo>
                <a:lnTo>
                  <a:pt x="210501" y="4134"/>
                </a:lnTo>
                <a:lnTo>
                  <a:pt x="256631" y="0"/>
                </a:lnTo>
                <a:lnTo>
                  <a:pt x="452961" y="0"/>
                </a:lnTo>
                <a:lnTo>
                  <a:pt x="503262" y="4976"/>
                </a:lnTo>
                <a:lnTo>
                  <a:pt x="551171" y="19534"/>
                </a:lnTo>
                <a:lnTo>
                  <a:pt x="595341" y="43116"/>
                </a:lnTo>
                <a:lnTo>
                  <a:pt x="634428" y="75165"/>
                </a:lnTo>
                <a:lnTo>
                  <a:pt x="666476" y="114252"/>
                </a:lnTo>
                <a:lnTo>
                  <a:pt x="690059" y="158422"/>
                </a:lnTo>
                <a:lnTo>
                  <a:pt x="704617" y="206331"/>
                </a:lnTo>
                <a:lnTo>
                  <a:pt x="709593" y="256631"/>
                </a:lnTo>
                <a:lnTo>
                  <a:pt x="709593" y="454549"/>
                </a:lnTo>
                <a:lnTo>
                  <a:pt x="705459" y="500679"/>
                </a:lnTo>
                <a:lnTo>
                  <a:pt x="693538" y="544097"/>
                </a:lnTo>
                <a:lnTo>
                  <a:pt x="674556" y="584076"/>
                </a:lnTo>
                <a:lnTo>
                  <a:pt x="649237" y="619894"/>
                </a:lnTo>
                <a:lnTo>
                  <a:pt x="618306" y="650825"/>
                </a:lnTo>
                <a:lnTo>
                  <a:pt x="582488" y="676143"/>
                </a:lnTo>
                <a:lnTo>
                  <a:pt x="542509" y="695126"/>
                </a:lnTo>
                <a:lnTo>
                  <a:pt x="499091" y="707046"/>
                </a:lnTo>
                <a:lnTo>
                  <a:pt x="452961" y="7111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53159" y="6062857"/>
            <a:ext cx="709930" cy="711200"/>
          </a:xfrm>
          <a:custGeom>
            <a:avLst/>
            <a:gdLst/>
            <a:ahLst/>
            <a:cxnLst/>
            <a:rect l="l" t="t" r="r" b="b"/>
            <a:pathLst>
              <a:path w="709929" h="711200">
                <a:moveTo>
                  <a:pt x="452962" y="711181"/>
                </a:moveTo>
                <a:lnTo>
                  <a:pt x="256631" y="711181"/>
                </a:lnTo>
                <a:lnTo>
                  <a:pt x="210501" y="707047"/>
                </a:lnTo>
                <a:lnTo>
                  <a:pt x="167084" y="695126"/>
                </a:lnTo>
                <a:lnTo>
                  <a:pt x="127104" y="676144"/>
                </a:lnTo>
                <a:lnTo>
                  <a:pt x="91287" y="650825"/>
                </a:lnTo>
                <a:lnTo>
                  <a:pt x="60356" y="619895"/>
                </a:lnTo>
                <a:lnTo>
                  <a:pt x="35037" y="584077"/>
                </a:lnTo>
                <a:lnTo>
                  <a:pt x="16055" y="544097"/>
                </a:lnTo>
                <a:lnTo>
                  <a:pt x="4134" y="500680"/>
                </a:lnTo>
                <a:lnTo>
                  <a:pt x="0" y="454550"/>
                </a:lnTo>
                <a:lnTo>
                  <a:pt x="0" y="256631"/>
                </a:lnTo>
                <a:lnTo>
                  <a:pt x="4134" y="210501"/>
                </a:lnTo>
                <a:lnTo>
                  <a:pt x="16055" y="167084"/>
                </a:lnTo>
                <a:lnTo>
                  <a:pt x="35037" y="127104"/>
                </a:lnTo>
                <a:lnTo>
                  <a:pt x="60356" y="91287"/>
                </a:lnTo>
                <a:lnTo>
                  <a:pt x="91287" y="60356"/>
                </a:lnTo>
                <a:lnTo>
                  <a:pt x="127104" y="35037"/>
                </a:lnTo>
                <a:lnTo>
                  <a:pt x="167084" y="16055"/>
                </a:lnTo>
                <a:lnTo>
                  <a:pt x="210501" y="4134"/>
                </a:lnTo>
                <a:lnTo>
                  <a:pt x="256631" y="0"/>
                </a:lnTo>
                <a:lnTo>
                  <a:pt x="452962" y="0"/>
                </a:lnTo>
                <a:lnTo>
                  <a:pt x="503262" y="4976"/>
                </a:lnTo>
                <a:lnTo>
                  <a:pt x="551170" y="19534"/>
                </a:lnTo>
                <a:lnTo>
                  <a:pt x="595341" y="43117"/>
                </a:lnTo>
                <a:lnTo>
                  <a:pt x="634428" y="75165"/>
                </a:lnTo>
                <a:lnTo>
                  <a:pt x="666476" y="114252"/>
                </a:lnTo>
                <a:lnTo>
                  <a:pt x="690059" y="158422"/>
                </a:lnTo>
                <a:lnTo>
                  <a:pt x="704617" y="206331"/>
                </a:lnTo>
                <a:lnTo>
                  <a:pt x="709593" y="256631"/>
                </a:lnTo>
                <a:lnTo>
                  <a:pt x="709593" y="454550"/>
                </a:lnTo>
                <a:lnTo>
                  <a:pt x="705459" y="500680"/>
                </a:lnTo>
                <a:lnTo>
                  <a:pt x="693538" y="544097"/>
                </a:lnTo>
                <a:lnTo>
                  <a:pt x="674556" y="584077"/>
                </a:lnTo>
                <a:lnTo>
                  <a:pt x="649237" y="619895"/>
                </a:lnTo>
                <a:lnTo>
                  <a:pt x="618306" y="650825"/>
                </a:lnTo>
                <a:lnTo>
                  <a:pt x="582489" y="676144"/>
                </a:lnTo>
                <a:lnTo>
                  <a:pt x="542509" y="695126"/>
                </a:lnTo>
                <a:lnTo>
                  <a:pt x="499092" y="707047"/>
                </a:lnTo>
                <a:lnTo>
                  <a:pt x="452962" y="711181"/>
                </a:lnTo>
                <a:close/>
              </a:path>
            </a:pathLst>
          </a:custGeom>
          <a:solidFill>
            <a:srgbClr val="FACE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06776" y="6062857"/>
            <a:ext cx="1567180" cy="711200"/>
          </a:xfrm>
          <a:custGeom>
            <a:avLst/>
            <a:gdLst/>
            <a:ahLst/>
            <a:cxnLst/>
            <a:rect l="l" t="t" r="r" b="b"/>
            <a:pathLst>
              <a:path w="1567179" h="711200">
                <a:moveTo>
                  <a:pt x="1309451" y="711181"/>
                </a:moveTo>
                <a:lnTo>
                  <a:pt x="257206" y="711181"/>
                </a:lnTo>
                <a:lnTo>
                  <a:pt x="210973" y="707038"/>
                </a:lnTo>
                <a:lnTo>
                  <a:pt x="167458" y="695090"/>
                </a:lnTo>
                <a:lnTo>
                  <a:pt x="127389" y="676065"/>
                </a:lnTo>
                <a:lnTo>
                  <a:pt x="91491" y="650690"/>
                </a:lnTo>
                <a:lnTo>
                  <a:pt x="60491" y="619690"/>
                </a:lnTo>
                <a:lnTo>
                  <a:pt x="35116" y="583792"/>
                </a:lnTo>
                <a:lnTo>
                  <a:pt x="16091" y="543723"/>
                </a:lnTo>
                <a:lnTo>
                  <a:pt x="4143" y="500208"/>
                </a:lnTo>
                <a:lnTo>
                  <a:pt x="0" y="453975"/>
                </a:lnTo>
                <a:lnTo>
                  <a:pt x="0" y="257205"/>
                </a:lnTo>
                <a:lnTo>
                  <a:pt x="4143" y="210972"/>
                </a:lnTo>
                <a:lnTo>
                  <a:pt x="16091" y="167458"/>
                </a:lnTo>
                <a:lnTo>
                  <a:pt x="35116" y="127389"/>
                </a:lnTo>
                <a:lnTo>
                  <a:pt x="60491" y="91491"/>
                </a:lnTo>
                <a:lnTo>
                  <a:pt x="91491" y="60491"/>
                </a:lnTo>
                <a:lnTo>
                  <a:pt x="127389" y="35116"/>
                </a:lnTo>
                <a:lnTo>
                  <a:pt x="167458" y="16091"/>
                </a:lnTo>
                <a:lnTo>
                  <a:pt x="210973" y="4143"/>
                </a:lnTo>
                <a:lnTo>
                  <a:pt x="257206" y="0"/>
                </a:lnTo>
                <a:lnTo>
                  <a:pt x="1309451" y="0"/>
                </a:lnTo>
                <a:lnTo>
                  <a:pt x="1359864" y="4987"/>
                </a:lnTo>
                <a:lnTo>
                  <a:pt x="1407880" y="19578"/>
                </a:lnTo>
                <a:lnTo>
                  <a:pt x="1452149" y="43213"/>
                </a:lnTo>
                <a:lnTo>
                  <a:pt x="1491323" y="75333"/>
                </a:lnTo>
                <a:lnTo>
                  <a:pt x="1523444" y="114508"/>
                </a:lnTo>
                <a:lnTo>
                  <a:pt x="1547079" y="158777"/>
                </a:lnTo>
                <a:lnTo>
                  <a:pt x="1561670" y="206793"/>
                </a:lnTo>
                <a:lnTo>
                  <a:pt x="1566657" y="257205"/>
                </a:lnTo>
                <a:lnTo>
                  <a:pt x="1566657" y="453975"/>
                </a:lnTo>
                <a:lnTo>
                  <a:pt x="1562514" y="500208"/>
                </a:lnTo>
                <a:lnTo>
                  <a:pt x="1550566" y="543723"/>
                </a:lnTo>
                <a:lnTo>
                  <a:pt x="1531541" y="583792"/>
                </a:lnTo>
                <a:lnTo>
                  <a:pt x="1506166" y="619690"/>
                </a:lnTo>
                <a:lnTo>
                  <a:pt x="1475166" y="650690"/>
                </a:lnTo>
                <a:lnTo>
                  <a:pt x="1439268" y="676065"/>
                </a:lnTo>
                <a:lnTo>
                  <a:pt x="1399199" y="695090"/>
                </a:lnTo>
                <a:lnTo>
                  <a:pt x="1355685" y="707038"/>
                </a:lnTo>
                <a:lnTo>
                  <a:pt x="1309451" y="7111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4352180"/>
            <a:ext cx="888365" cy="1575435"/>
          </a:xfrm>
          <a:custGeom>
            <a:avLst/>
            <a:gdLst/>
            <a:ahLst/>
            <a:cxnLst/>
            <a:rect l="l" t="t" r="r" b="b"/>
            <a:pathLst>
              <a:path w="888365" h="1575435">
                <a:moveTo>
                  <a:pt x="641493" y="1574993"/>
                </a:moveTo>
                <a:lnTo>
                  <a:pt x="0" y="1574993"/>
                </a:lnTo>
                <a:lnTo>
                  <a:pt x="0" y="0"/>
                </a:lnTo>
                <a:lnTo>
                  <a:pt x="641493" y="0"/>
                </a:lnTo>
                <a:lnTo>
                  <a:pt x="689764" y="4775"/>
                </a:lnTo>
                <a:lnTo>
                  <a:pt x="735741" y="18747"/>
                </a:lnTo>
                <a:lnTo>
                  <a:pt x="778130" y="41378"/>
                </a:lnTo>
                <a:lnTo>
                  <a:pt x="815640" y="72134"/>
                </a:lnTo>
                <a:lnTo>
                  <a:pt x="846396" y="109644"/>
                </a:lnTo>
                <a:lnTo>
                  <a:pt x="869027" y="152033"/>
                </a:lnTo>
                <a:lnTo>
                  <a:pt x="882999" y="198010"/>
                </a:lnTo>
                <a:lnTo>
                  <a:pt x="887774" y="246281"/>
                </a:lnTo>
                <a:lnTo>
                  <a:pt x="887774" y="1328712"/>
                </a:lnTo>
                <a:lnTo>
                  <a:pt x="882771" y="1378346"/>
                </a:lnTo>
                <a:lnTo>
                  <a:pt x="868420" y="1424576"/>
                </a:lnTo>
                <a:lnTo>
                  <a:pt x="845713" y="1466410"/>
                </a:lnTo>
                <a:lnTo>
                  <a:pt x="815640" y="1502859"/>
                </a:lnTo>
                <a:lnTo>
                  <a:pt x="779191" y="1532932"/>
                </a:lnTo>
                <a:lnTo>
                  <a:pt x="737357" y="1555639"/>
                </a:lnTo>
                <a:lnTo>
                  <a:pt x="691127" y="1569990"/>
                </a:lnTo>
                <a:lnTo>
                  <a:pt x="641493" y="1574993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304224" y="4352180"/>
            <a:ext cx="888365" cy="711200"/>
          </a:xfrm>
          <a:custGeom>
            <a:avLst/>
            <a:gdLst/>
            <a:ahLst/>
            <a:cxnLst/>
            <a:rect l="l" t="t" r="r" b="b"/>
            <a:pathLst>
              <a:path w="888365" h="711200">
                <a:moveTo>
                  <a:pt x="887775" y="711181"/>
                </a:moveTo>
                <a:lnTo>
                  <a:pt x="257206" y="711181"/>
                </a:lnTo>
                <a:lnTo>
                  <a:pt x="210973" y="707038"/>
                </a:lnTo>
                <a:lnTo>
                  <a:pt x="167458" y="695090"/>
                </a:lnTo>
                <a:lnTo>
                  <a:pt x="127389" y="676065"/>
                </a:lnTo>
                <a:lnTo>
                  <a:pt x="91491" y="650690"/>
                </a:lnTo>
                <a:lnTo>
                  <a:pt x="60491" y="619690"/>
                </a:lnTo>
                <a:lnTo>
                  <a:pt x="35116" y="583792"/>
                </a:lnTo>
                <a:lnTo>
                  <a:pt x="16091" y="543723"/>
                </a:lnTo>
                <a:lnTo>
                  <a:pt x="4143" y="500208"/>
                </a:lnTo>
                <a:lnTo>
                  <a:pt x="0" y="453975"/>
                </a:lnTo>
                <a:lnTo>
                  <a:pt x="0" y="257205"/>
                </a:lnTo>
                <a:lnTo>
                  <a:pt x="4143" y="210972"/>
                </a:lnTo>
                <a:lnTo>
                  <a:pt x="16091" y="167458"/>
                </a:lnTo>
                <a:lnTo>
                  <a:pt x="35116" y="127389"/>
                </a:lnTo>
                <a:lnTo>
                  <a:pt x="60491" y="91491"/>
                </a:lnTo>
                <a:lnTo>
                  <a:pt x="91491" y="60491"/>
                </a:lnTo>
                <a:lnTo>
                  <a:pt x="127389" y="35116"/>
                </a:lnTo>
                <a:lnTo>
                  <a:pt x="167458" y="16091"/>
                </a:lnTo>
                <a:lnTo>
                  <a:pt x="210973" y="4143"/>
                </a:lnTo>
                <a:lnTo>
                  <a:pt x="257206" y="0"/>
                </a:lnTo>
                <a:lnTo>
                  <a:pt x="887775" y="0"/>
                </a:lnTo>
                <a:lnTo>
                  <a:pt x="887775" y="711181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304224" y="5214477"/>
            <a:ext cx="888365" cy="1575435"/>
          </a:xfrm>
          <a:custGeom>
            <a:avLst/>
            <a:gdLst/>
            <a:ahLst/>
            <a:cxnLst/>
            <a:rect l="l" t="t" r="r" b="b"/>
            <a:pathLst>
              <a:path w="888365" h="1575434">
                <a:moveTo>
                  <a:pt x="887775" y="1574993"/>
                </a:moveTo>
                <a:lnTo>
                  <a:pt x="246281" y="1574993"/>
                </a:lnTo>
                <a:lnTo>
                  <a:pt x="196647" y="1569990"/>
                </a:lnTo>
                <a:lnTo>
                  <a:pt x="150417" y="1555639"/>
                </a:lnTo>
                <a:lnTo>
                  <a:pt x="108583" y="1532932"/>
                </a:lnTo>
                <a:lnTo>
                  <a:pt x="72134" y="1502859"/>
                </a:lnTo>
                <a:lnTo>
                  <a:pt x="42061" y="1466410"/>
                </a:lnTo>
                <a:lnTo>
                  <a:pt x="19354" y="1424576"/>
                </a:lnTo>
                <a:lnTo>
                  <a:pt x="5003" y="1378346"/>
                </a:lnTo>
                <a:lnTo>
                  <a:pt x="0" y="1328711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7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887775" y="0"/>
                </a:lnTo>
                <a:lnTo>
                  <a:pt x="887775" y="1574993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Agenda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40442" y="1778381"/>
            <a:ext cx="6986905" cy="321564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40055" indent="-427355">
              <a:lnSpc>
                <a:spcPct val="100000"/>
              </a:lnSpc>
              <a:spcBef>
                <a:spcPts val="565"/>
              </a:spcBef>
              <a:buFont typeface="Microsoft Sans Serif"/>
              <a:buChar char="●"/>
              <a:tabLst>
                <a:tab pos="440055" algn="l"/>
              </a:tabLst>
            </a:pPr>
            <a:r>
              <a:rPr sz="2600" dirty="0">
                <a:solidFill>
                  <a:srgbClr val="1B212C"/>
                </a:solidFill>
                <a:latin typeface="Lucida Sans Unicode"/>
                <a:cs typeface="Lucida Sans Unicode"/>
              </a:rPr>
              <a:t>Introduction</a:t>
            </a:r>
            <a:r>
              <a:rPr sz="2600" spc="-8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2600" spc="-7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114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2600" spc="-6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Analysis</a:t>
            </a:r>
            <a:endParaRPr sz="2600">
              <a:latin typeface="Lucida Sans Unicode"/>
              <a:cs typeface="Lucida Sans Unicode"/>
            </a:endParaRPr>
          </a:p>
          <a:p>
            <a:pPr marL="440055" indent="-427355">
              <a:lnSpc>
                <a:spcPct val="100000"/>
              </a:lnSpc>
              <a:spcBef>
                <a:spcPts val="470"/>
              </a:spcBef>
              <a:buFont typeface="Microsoft Sans Serif"/>
              <a:buChar char="●"/>
              <a:tabLst>
                <a:tab pos="440055" algn="l"/>
              </a:tabLst>
            </a:pPr>
            <a:r>
              <a:rPr sz="2600" dirty="0">
                <a:solidFill>
                  <a:srgbClr val="1B212C"/>
                </a:solidFill>
                <a:latin typeface="Lucida Sans Unicode"/>
                <a:cs typeface="Lucida Sans Unicode"/>
              </a:rPr>
              <a:t>Getting</a:t>
            </a:r>
            <a:r>
              <a:rPr sz="2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Started</a:t>
            </a:r>
            <a:r>
              <a:rPr sz="2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1B212C"/>
                </a:solidFill>
                <a:latin typeface="Lucida Sans Unicode"/>
                <a:cs typeface="Lucida Sans Unicode"/>
              </a:rPr>
              <a:t>with</a:t>
            </a:r>
            <a:r>
              <a:rPr sz="2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135" dirty="0">
                <a:solidFill>
                  <a:srgbClr val="1B212C"/>
                </a:solidFill>
                <a:latin typeface="Lucida Sans Unicode"/>
                <a:cs typeface="Lucida Sans Unicode"/>
              </a:rPr>
              <a:t>Pandas</a:t>
            </a:r>
            <a:endParaRPr sz="2600">
              <a:latin typeface="Lucida Sans Unicode"/>
              <a:cs typeface="Lucida Sans Unicode"/>
            </a:endParaRPr>
          </a:p>
          <a:p>
            <a:pPr marL="440055" indent="-427355">
              <a:lnSpc>
                <a:spcPct val="100000"/>
              </a:lnSpc>
              <a:spcBef>
                <a:spcPts val="465"/>
              </a:spcBef>
              <a:buFont typeface="Microsoft Sans Serif"/>
              <a:buChar char="●"/>
              <a:tabLst>
                <a:tab pos="440055" algn="l"/>
              </a:tabLst>
            </a:pPr>
            <a:r>
              <a:rPr sz="2600" spc="114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2600" spc="-1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Exploration</a:t>
            </a:r>
            <a:r>
              <a:rPr sz="2600" spc="-1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1B212C"/>
                </a:solidFill>
                <a:latin typeface="Lucida Sans Unicode"/>
                <a:cs typeface="Lucida Sans Unicode"/>
              </a:rPr>
              <a:t>with</a:t>
            </a:r>
            <a:r>
              <a:rPr sz="2600" spc="-1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135" dirty="0">
                <a:solidFill>
                  <a:srgbClr val="1B212C"/>
                </a:solidFill>
                <a:latin typeface="Lucida Sans Unicode"/>
                <a:cs typeface="Lucida Sans Unicode"/>
              </a:rPr>
              <a:t>Pandas</a:t>
            </a:r>
            <a:endParaRPr sz="2600">
              <a:latin typeface="Lucida Sans Unicode"/>
              <a:cs typeface="Lucida Sans Unicode"/>
            </a:endParaRPr>
          </a:p>
          <a:p>
            <a:pPr marL="440055" indent="-427355">
              <a:lnSpc>
                <a:spcPct val="100000"/>
              </a:lnSpc>
              <a:spcBef>
                <a:spcPts val="470"/>
              </a:spcBef>
              <a:buFont typeface="Microsoft Sans Serif"/>
              <a:buChar char="●"/>
              <a:tabLst>
                <a:tab pos="440055" algn="l"/>
              </a:tabLst>
            </a:pPr>
            <a:r>
              <a:rPr sz="2600" dirty="0">
                <a:solidFill>
                  <a:srgbClr val="1B212C"/>
                </a:solidFill>
                <a:latin typeface="Lucida Sans Unicode"/>
                <a:cs typeface="Lucida Sans Unicode"/>
              </a:rPr>
              <a:t>Introduction</a:t>
            </a:r>
            <a:r>
              <a:rPr sz="2600" spc="-8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2600" spc="-7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114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2600" spc="-6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Visualization</a:t>
            </a:r>
            <a:endParaRPr sz="2600">
              <a:latin typeface="Lucida Sans Unicode"/>
              <a:cs typeface="Lucida Sans Unicode"/>
            </a:endParaRPr>
          </a:p>
          <a:p>
            <a:pPr marL="440055" indent="-427355">
              <a:lnSpc>
                <a:spcPct val="100000"/>
              </a:lnSpc>
              <a:spcBef>
                <a:spcPts val="470"/>
              </a:spcBef>
              <a:buFont typeface="Microsoft Sans Serif"/>
              <a:buChar char="●"/>
              <a:tabLst>
                <a:tab pos="440055" algn="l"/>
              </a:tabLst>
            </a:pPr>
            <a:r>
              <a:rPr sz="2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Visualizing</a:t>
            </a:r>
            <a:r>
              <a:rPr sz="2600" spc="-1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114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2600" spc="-1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1B212C"/>
                </a:solidFill>
                <a:latin typeface="Lucida Sans Unicode"/>
                <a:cs typeface="Lucida Sans Unicode"/>
              </a:rPr>
              <a:t>with</a:t>
            </a:r>
            <a:r>
              <a:rPr sz="2600" spc="-1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Matplotlib</a:t>
            </a:r>
            <a:endParaRPr sz="2600">
              <a:latin typeface="Lucida Sans Unicode"/>
              <a:cs typeface="Lucida Sans Unicode"/>
            </a:endParaRPr>
          </a:p>
          <a:p>
            <a:pPr marL="440055" indent="-427355">
              <a:lnSpc>
                <a:spcPct val="100000"/>
              </a:lnSpc>
              <a:spcBef>
                <a:spcPts val="465"/>
              </a:spcBef>
              <a:buFont typeface="Microsoft Sans Serif"/>
              <a:buChar char="●"/>
              <a:tabLst>
                <a:tab pos="440055" algn="l"/>
              </a:tabLst>
            </a:pPr>
            <a:r>
              <a:rPr sz="2600" spc="90" dirty="0">
                <a:solidFill>
                  <a:srgbClr val="1B212C"/>
                </a:solidFill>
                <a:latin typeface="Lucida Sans Unicode"/>
                <a:cs typeface="Lucida Sans Unicode"/>
              </a:rPr>
              <a:t>Practical</a:t>
            </a:r>
            <a:r>
              <a:rPr sz="2600" spc="-1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1B212C"/>
                </a:solidFill>
                <a:latin typeface="Lucida Sans Unicode"/>
                <a:cs typeface="Lucida Sans Unicode"/>
              </a:rPr>
              <a:t>Example:</a:t>
            </a:r>
            <a:r>
              <a:rPr sz="2600" spc="-1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1B212C"/>
                </a:solidFill>
                <a:latin typeface="Lucida Sans Unicode"/>
                <a:cs typeface="Lucida Sans Unicode"/>
              </a:rPr>
              <a:t>Analyzing</a:t>
            </a:r>
            <a:r>
              <a:rPr sz="2600" spc="-1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Sales</a:t>
            </a:r>
            <a:r>
              <a:rPr sz="2600" spc="-1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endParaRPr sz="2600">
              <a:latin typeface="Lucida Sans Unicode"/>
              <a:cs typeface="Lucida Sans Unicode"/>
            </a:endParaRPr>
          </a:p>
          <a:p>
            <a:pPr marL="440055" indent="-427355">
              <a:lnSpc>
                <a:spcPct val="100000"/>
              </a:lnSpc>
              <a:spcBef>
                <a:spcPts val="470"/>
              </a:spcBef>
              <a:buFont typeface="Microsoft Sans Serif"/>
              <a:buChar char="●"/>
              <a:tabLst>
                <a:tab pos="440055" algn="l"/>
              </a:tabLst>
            </a:pPr>
            <a:r>
              <a:rPr sz="2600" dirty="0">
                <a:solidFill>
                  <a:srgbClr val="1B212C"/>
                </a:solidFill>
                <a:latin typeface="Lucida Sans Unicode"/>
                <a:cs typeface="Lucida Sans Unicode"/>
              </a:rPr>
              <a:t>Conclusion</a:t>
            </a:r>
            <a:r>
              <a:rPr sz="2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15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2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-95" dirty="0">
                <a:solidFill>
                  <a:srgbClr val="1B212C"/>
                </a:solidFill>
                <a:latin typeface="Lucida Sans Unicode"/>
                <a:cs typeface="Lucida Sans Unicode"/>
              </a:rPr>
              <a:t>Next</a:t>
            </a:r>
            <a:r>
              <a:rPr sz="2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26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Steps</a:t>
            </a:r>
            <a:endParaRPr sz="2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85203" y="6062857"/>
            <a:ext cx="1575435" cy="795655"/>
          </a:xfrm>
          <a:custGeom>
            <a:avLst/>
            <a:gdLst/>
            <a:ahLst/>
            <a:cxnLst/>
            <a:rect l="l" t="t" r="r" b="b"/>
            <a:pathLst>
              <a:path w="1575434" h="795654">
                <a:moveTo>
                  <a:pt x="1574999" y="795143"/>
                </a:moveTo>
                <a:lnTo>
                  <a:pt x="0" y="795143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8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1328716" y="0"/>
                </a:lnTo>
                <a:lnTo>
                  <a:pt x="1376988" y="4775"/>
                </a:lnTo>
                <a:lnTo>
                  <a:pt x="1422965" y="18747"/>
                </a:lnTo>
                <a:lnTo>
                  <a:pt x="1465354" y="41378"/>
                </a:lnTo>
                <a:lnTo>
                  <a:pt x="1502864" y="72134"/>
                </a:lnTo>
                <a:lnTo>
                  <a:pt x="1533621" y="109644"/>
                </a:lnTo>
                <a:lnTo>
                  <a:pt x="1556252" y="152033"/>
                </a:lnTo>
                <a:lnTo>
                  <a:pt x="1570223" y="198010"/>
                </a:lnTo>
                <a:lnTo>
                  <a:pt x="1574999" y="246281"/>
                </a:lnTo>
                <a:lnTo>
                  <a:pt x="1574999" y="795143"/>
                </a:lnTo>
                <a:close/>
              </a:path>
            </a:pathLst>
          </a:custGeom>
          <a:solidFill>
            <a:srgbClr val="D8E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36479" y="5215992"/>
            <a:ext cx="2423795" cy="711200"/>
          </a:xfrm>
          <a:custGeom>
            <a:avLst/>
            <a:gdLst/>
            <a:ahLst/>
            <a:cxnLst/>
            <a:rect l="l" t="t" r="r" b="b"/>
            <a:pathLst>
              <a:path w="2423795" h="711200">
                <a:moveTo>
                  <a:pt x="2166515" y="711181"/>
                </a:moveTo>
                <a:lnTo>
                  <a:pt x="257205" y="711181"/>
                </a:lnTo>
                <a:lnTo>
                  <a:pt x="210972" y="707037"/>
                </a:lnTo>
                <a:lnTo>
                  <a:pt x="167458" y="695090"/>
                </a:lnTo>
                <a:lnTo>
                  <a:pt x="127389" y="676065"/>
                </a:lnTo>
                <a:lnTo>
                  <a:pt x="91491" y="650689"/>
                </a:lnTo>
                <a:lnTo>
                  <a:pt x="60491" y="619690"/>
                </a:lnTo>
                <a:lnTo>
                  <a:pt x="35116" y="583792"/>
                </a:lnTo>
                <a:lnTo>
                  <a:pt x="16091" y="543723"/>
                </a:lnTo>
                <a:lnTo>
                  <a:pt x="4143" y="500208"/>
                </a:lnTo>
                <a:lnTo>
                  <a:pt x="0" y="453975"/>
                </a:lnTo>
                <a:lnTo>
                  <a:pt x="0" y="257205"/>
                </a:lnTo>
                <a:lnTo>
                  <a:pt x="4143" y="210972"/>
                </a:lnTo>
                <a:lnTo>
                  <a:pt x="16091" y="167458"/>
                </a:lnTo>
                <a:lnTo>
                  <a:pt x="35116" y="127389"/>
                </a:lnTo>
                <a:lnTo>
                  <a:pt x="60491" y="91491"/>
                </a:lnTo>
                <a:lnTo>
                  <a:pt x="91491" y="60491"/>
                </a:lnTo>
                <a:lnTo>
                  <a:pt x="127389" y="35116"/>
                </a:lnTo>
                <a:lnTo>
                  <a:pt x="167458" y="16091"/>
                </a:lnTo>
                <a:lnTo>
                  <a:pt x="210972" y="4143"/>
                </a:lnTo>
                <a:lnTo>
                  <a:pt x="257205" y="0"/>
                </a:lnTo>
                <a:lnTo>
                  <a:pt x="2166515" y="0"/>
                </a:lnTo>
                <a:lnTo>
                  <a:pt x="2216928" y="4987"/>
                </a:lnTo>
                <a:lnTo>
                  <a:pt x="2264944" y="19578"/>
                </a:lnTo>
                <a:lnTo>
                  <a:pt x="2309213" y="43213"/>
                </a:lnTo>
                <a:lnTo>
                  <a:pt x="2348387" y="75333"/>
                </a:lnTo>
                <a:lnTo>
                  <a:pt x="2380508" y="114507"/>
                </a:lnTo>
                <a:lnTo>
                  <a:pt x="2404143" y="158777"/>
                </a:lnTo>
                <a:lnTo>
                  <a:pt x="2418734" y="206793"/>
                </a:lnTo>
                <a:lnTo>
                  <a:pt x="2423722" y="257205"/>
                </a:lnTo>
                <a:lnTo>
                  <a:pt x="2423722" y="453975"/>
                </a:lnTo>
                <a:lnTo>
                  <a:pt x="2419578" y="500208"/>
                </a:lnTo>
                <a:lnTo>
                  <a:pt x="2407630" y="543723"/>
                </a:lnTo>
                <a:lnTo>
                  <a:pt x="2388606" y="583792"/>
                </a:lnTo>
                <a:lnTo>
                  <a:pt x="2363230" y="619690"/>
                </a:lnTo>
                <a:lnTo>
                  <a:pt x="2332230" y="650689"/>
                </a:lnTo>
                <a:lnTo>
                  <a:pt x="2296332" y="676065"/>
                </a:lnTo>
                <a:lnTo>
                  <a:pt x="2256263" y="695090"/>
                </a:lnTo>
                <a:lnTo>
                  <a:pt x="2212749" y="707037"/>
                </a:lnTo>
                <a:lnTo>
                  <a:pt x="2166515" y="711181"/>
                </a:lnTo>
                <a:close/>
              </a:path>
            </a:pathLst>
          </a:custGeom>
          <a:solidFill>
            <a:srgbClr val="FFFFFF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304224" y="4352180"/>
            <a:ext cx="888365" cy="711200"/>
          </a:xfrm>
          <a:custGeom>
            <a:avLst/>
            <a:gdLst/>
            <a:ahLst/>
            <a:cxnLst/>
            <a:rect l="l" t="t" r="r" b="b"/>
            <a:pathLst>
              <a:path w="888365" h="711200">
                <a:moveTo>
                  <a:pt x="887775" y="711181"/>
                </a:moveTo>
                <a:lnTo>
                  <a:pt x="257206" y="711181"/>
                </a:lnTo>
                <a:lnTo>
                  <a:pt x="210973" y="707038"/>
                </a:lnTo>
                <a:lnTo>
                  <a:pt x="167458" y="695090"/>
                </a:lnTo>
                <a:lnTo>
                  <a:pt x="127389" y="676065"/>
                </a:lnTo>
                <a:lnTo>
                  <a:pt x="91491" y="650690"/>
                </a:lnTo>
                <a:lnTo>
                  <a:pt x="60491" y="619690"/>
                </a:lnTo>
                <a:lnTo>
                  <a:pt x="35116" y="583792"/>
                </a:lnTo>
                <a:lnTo>
                  <a:pt x="16091" y="543723"/>
                </a:lnTo>
                <a:lnTo>
                  <a:pt x="4143" y="500208"/>
                </a:lnTo>
                <a:lnTo>
                  <a:pt x="0" y="453975"/>
                </a:lnTo>
                <a:lnTo>
                  <a:pt x="0" y="257205"/>
                </a:lnTo>
                <a:lnTo>
                  <a:pt x="4143" y="210972"/>
                </a:lnTo>
                <a:lnTo>
                  <a:pt x="16091" y="167458"/>
                </a:lnTo>
                <a:lnTo>
                  <a:pt x="35116" y="127389"/>
                </a:lnTo>
                <a:lnTo>
                  <a:pt x="60491" y="91491"/>
                </a:lnTo>
                <a:lnTo>
                  <a:pt x="91491" y="60491"/>
                </a:lnTo>
                <a:lnTo>
                  <a:pt x="127389" y="35116"/>
                </a:lnTo>
                <a:lnTo>
                  <a:pt x="167458" y="16091"/>
                </a:lnTo>
                <a:lnTo>
                  <a:pt x="210973" y="4143"/>
                </a:lnTo>
                <a:lnTo>
                  <a:pt x="257206" y="0"/>
                </a:lnTo>
                <a:lnTo>
                  <a:pt x="887775" y="0"/>
                </a:lnTo>
                <a:lnTo>
                  <a:pt x="887775" y="7111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304224" y="5214477"/>
            <a:ext cx="888365" cy="1575435"/>
          </a:xfrm>
          <a:custGeom>
            <a:avLst/>
            <a:gdLst/>
            <a:ahLst/>
            <a:cxnLst/>
            <a:rect l="l" t="t" r="r" b="b"/>
            <a:pathLst>
              <a:path w="888365" h="1575434">
                <a:moveTo>
                  <a:pt x="887775" y="1574993"/>
                </a:moveTo>
                <a:lnTo>
                  <a:pt x="246281" y="1574993"/>
                </a:lnTo>
                <a:lnTo>
                  <a:pt x="196647" y="1569990"/>
                </a:lnTo>
                <a:lnTo>
                  <a:pt x="150417" y="1555639"/>
                </a:lnTo>
                <a:lnTo>
                  <a:pt x="108583" y="1532932"/>
                </a:lnTo>
                <a:lnTo>
                  <a:pt x="72134" y="1502859"/>
                </a:lnTo>
                <a:lnTo>
                  <a:pt x="42061" y="1466410"/>
                </a:lnTo>
                <a:lnTo>
                  <a:pt x="19354" y="1424576"/>
                </a:lnTo>
                <a:lnTo>
                  <a:pt x="5003" y="1378346"/>
                </a:lnTo>
                <a:lnTo>
                  <a:pt x="0" y="1328711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7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887775" y="0"/>
                </a:lnTo>
                <a:lnTo>
                  <a:pt x="887775" y="1574993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40815" y="0"/>
            <a:ext cx="4651375" cy="4232275"/>
          </a:xfrm>
          <a:custGeom>
            <a:avLst/>
            <a:gdLst/>
            <a:ahLst/>
            <a:cxnLst/>
            <a:rect l="l" t="t" r="r" b="b"/>
            <a:pathLst>
              <a:path w="4651375" h="4232275">
                <a:moveTo>
                  <a:pt x="4651184" y="4232178"/>
                </a:moveTo>
                <a:lnTo>
                  <a:pt x="2439014" y="4232178"/>
                </a:lnTo>
                <a:lnTo>
                  <a:pt x="2390087" y="4230097"/>
                </a:lnTo>
                <a:lnTo>
                  <a:pt x="2342314" y="4223966"/>
                </a:lnTo>
                <a:lnTo>
                  <a:pt x="2295868" y="4213956"/>
                </a:lnTo>
                <a:lnTo>
                  <a:pt x="2250918" y="4200237"/>
                </a:lnTo>
                <a:lnTo>
                  <a:pt x="2207635" y="4182979"/>
                </a:lnTo>
                <a:lnTo>
                  <a:pt x="2166188" y="4162353"/>
                </a:lnTo>
                <a:lnTo>
                  <a:pt x="2126747" y="4138528"/>
                </a:lnTo>
                <a:lnTo>
                  <a:pt x="2089484" y="4111676"/>
                </a:lnTo>
                <a:lnTo>
                  <a:pt x="2054568" y="4081965"/>
                </a:lnTo>
                <a:lnTo>
                  <a:pt x="2022170" y="4049567"/>
                </a:lnTo>
                <a:lnTo>
                  <a:pt x="1992459" y="4014651"/>
                </a:lnTo>
                <a:lnTo>
                  <a:pt x="1965607" y="3977388"/>
                </a:lnTo>
                <a:lnTo>
                  <a:pt x="1941782" y="3937947"/>
                </a:lnTo>
                <a:lnTo>
                  <a:pt x="1921156" y="3896501"/>
                </a:lnTo>
                <a:lnTo>
                  <a:pt x="1903898" y="3853217"/>
                </a:lnTo>
                <a:lnTo>
                  <a:pt x="1890179" y="3808267"/>
                </a:lnTo>
                <a:lnTo>
                  <a:pt x="1880169" y="3761821"/>
                </a:lnTo>
                <a:lnTo>
                  <a:pt x="1874038" y="3714048"/>
                </a:lnTo>
                <a:lnTo>
                  <a:pt x="1871956" y="3665120"/>
                </a:lnTo>
                <a:lnTo>
                  <a:pt x="1871956" y="3008835"/>
                </a:lnTo>
                <a:lnTo>
                  <a:pt x="1860479" y="2894965"/>
                </a:lnTo>
                <a:lnTo>
                  <a:pt x="1849442" y="2849227"/>
                </a:lnTo>
                <a:lnTo>
                  <a:pt x="1835370" y="2804753"/>
                </a:lnTo>
                <a:lnTo>
                  <a:pt x="1818381" y="2761661"/>
                </a:lnTo>
                <a:lnTo>
                  <a:pt x="1798591" y="2720067"/>
                </a:lnTo>
                <a:lnTo>
                  <a:pt x="1776117" y="2680089"/>
                </a:lnTo>
                <a:lnTo>
                  <a:pt x="1751076" y="2641843"/>
                </a:lnTo>
                <a:lnTo>
                  <a:pt x="1723585" y="2605446"/>
                </a:lnTo>
                <a:lnTo>
                  <a:pt x="1693761" y="2571015"/>
                </a:lnTo>
                <a:lnTo>
                  <a:pt x="1661720" y="2538667"/>
                </a:lnTo>
                <a:lnTo>
                  <a:pt x="1627580" y="2508519"/>
                </a:lnTo>
                <a:lnTo>
                  <a:pt x="1591456" y="2480687"/>
                </a:lnTo>
                <a:lnTo>
                  <a:pt x="1553467" y="2455289"/>
                </a:lnTo>
                <a:lnTo>
                  <a:pt x="1513730" y="2432442"/>
                </a:lnTo>
                <a:lnTo>
                  <a:pt x="1472359" y="2412261"/>
                </a:lnTo>
                <a:lnTo>
                  <a:pt x="1429474" y="2394864"/>
                </a:lnTo>
                <a:lnTo>
                  <a:pt x="1385190" y="2380369"/>
                </a:lnTo>
                <a:lnTo>
                  <a:pt x="1339625" y="2368891"/>
                </a:lnTo>
                <a:lnTo>
                  <a:pt x="1292895" y="2360548"/>
                </a:lnTo>
                <a:lnTo>
                  <a:pt x="1245118" y="2355456"/>
                </a:lnTo>
                <a:lnTo>
                  <a:pt x="1196409" y="2353733"/>
                </a:lnTo>
                <a:lnTo>
                  <a:pt x="572887" y="2353733"/>
                </a:lnTo>
                <a:lnTo>
                  <a:pt x="525901" y="2351834"/>
                </a:lnTo>
                <a:lnTo>
                  <a:pt x="479962" y="2346235"/>
                </a:lnTo>
                <a:lnTo>
                  <a:pt x="435216" y="2337084"/>
                </a:lnTo>
                <a:lnTo>
                  <a:pt x="391811" y="2324527"/>
                </a:lnTo>
                <a:lnTo>
                  <a:pt x="349894" y="2308713"/>
                </a:lnTo>
                <a:lnTo>
                  <a:pt x="309613" y="2289789"/>
                </a:lnTo>
                <a:lnTo>
                  <a:pt x="271115" y="2267901"/>
                </a:lnTo>
                <a:lnTo>
                  <a:pt x="234548" y="2243199"/>
                </a:lnTo>
                <a:lnTo>
                  <a:pt x="200058" y="2215829"/>
                </a:lnTo>
                <a:lnTo>
                  <a:pt x="167795" y="2185938"/>
                </a:lnTo>
                <a:lnTo>
                  <a:pt x="137904" y="2153675"/>
                </a:lnTo>
                <a:lnTo>
                  <a:pt x="110534" y="2119186"/>
                </a:lnTo>
                <a:lnTo>
                  <a:pt x="85831" y="2082618"/>
                </a:lnTo>
                <a:lnTo>
                  <a:pt x="63944" y="2044121"/>
                </a:lnTo>
                <a:lnTo>
                  <a:pt x="45020" y="2003839"/>
                </a:lnTo>
                <a:lnTo>
                  <a:pt x="29206" y="1961923"/>
                </a:lnTo>
                <a:lnTo>
                  <a:pt x="16649" y="1918517"/>
                </a:lnTo>
                <a:lnTo>
                  <a:pt x="7498" y="1873771"/>
                </a:lnTo>
                <a:lnTo>
                  <a:pt x="1899" y="1827832"/>
                </a:lnTo>
                <a:lnTo>
                  <a:pt x="0" y="1780846"/>
                </a:lnTo>
                <a:lnTo>
                  <a:pt x="0" y="0"/>
                </a:lnTo>
                <a:lnTo>
                  <a:pt x="4651184" y="0"/>
                </a:lnTo>
                <a:lnTo>
                  <a:pt x="4651184" y="4232178"/>
                </a:lnTo>
                <a:close/>
              </a:path>
            </a:pathLst>
          </a:custGeom>
          <a:solidFill>
            <a:srgbClr val="FFFFFF">
              <a:alpha val="4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4875" y="984199"/>
            <a:ext cx="806830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Introduction</a:t>
            </a:r>
            <a:r>
              <a:rPr sz="4400" spc="-120" dirty="0"/>
              <a:t> </a:t>
            </a:r>
            <a:r>
              <a:rPr sz="4400" dirty="0"/>
              <a:t>to</a:t>
            </a:r>
            <a:r>
              <a:rPr sz="4400" spc="-114" dirty="0"/>
              <a:t> </a:t>
            </a:r>
            <a:r>
              <a:rPr sz="4400" spc="195" dirty="0"/>
              <a:t>Data</a:t>
            </a:r>
            <a:r>
              <a:rPr sz="4400" spc="-120" dirty="0"/>
              <a:t> </a:t>
            </a:r>
            <a:r>
              <a:rPr sz="4400" spc="-10" dirty="0"/>
              <a:t>Analysis</a:t>
            </a:r>
            <a:endParaRPr sz="4400"/>
          </a:p>
        </p:txBody>
      </p:sp>
      <p:sp>
        <p:nvSpPr>
          <p:cNvPr id="8" name="object 8"/>
          <p:cNvSpPr txBox="1"/>
          <p:nvPr/>
        </p:nvSpPr>
        <p:spPr>
          <a:xfrm>
            <a:off x="904875" y="1759521"/>
            <a:ext cx="10314305" cy="434911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800" spc="-50" dirty="0">
                <a:solidFill>
                  <a:srgbClr val="1B212C"/>
                </a:solidFill>
                <a:latin typeface="Arial Black"/>
                <a:cs typeface="Arial Black"/>
              </a:rPr>
              <a:t>Understanding</a:t>
            </a:r>
            <a:r>
              <a:rPr sz="1800" spc="-18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60" dirty="0">
                <a:solidFill>
                  <a:srgbClr val="1B212C"/>
                </a:solidFill>
                <a:latin typeface="Arial Black"/>
                <a:cs typeface="Arial Black"/>
              </a:rPr>
              <a:t>the</a:t>
            </a:r>
            <a:r>
              <a:rPr sz="1800" spc="-17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40" dirty="0">
                <a:solidFill>
                  <a:srgbClr val="1B212C"/>
                </a:solidFill>
                <a:latin typeface="Arial Black"/>
                <a:cs typeface="Arial Black"/>
              </a:rPr>
              <a:t>importance</a:t>
            </a:r>
            <a:r>
              <a:rPr sz="1800" spc="-17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65" dirty="0">
                <a:solidFill>
                  <a:srgbClr val="1B212C"/>
                </a:solidFill>
                <a:latin typeface="Arial Black"/>
                <a:cs typeface="Arial Black"/>
              </a:rPr>
              <a:t>of</a:t>
            </a:r>
            <a:r>
              <a:rPr sz="1800" spc="-18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1B212C"/>
                </a:solidFill>
                <a:latin typeface="Arial Black"/>
                <a:cs typeface="Arial Black"/>
              </a:rPr>
              <a:t>data</a:t>
            </a:r>
            <a:r>
              <a:rPr sz="1800" spc="-17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40" dirty="0">
                <a:solidFill>
                  <a:srgbClr val="1B212C"/>
                </a:solidFill>
                <a:latin typeface="Arial Black"/>
                <a:cs typeface="Arial Black"/>
              </a:rPr>
              <a:t>analysis</a:t>
            </a:r>
            <a:r>
              <a:rPr sz="1800" spc="-17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45" dirty="0">
                <a:solidFill>
                  <a:srgbClr val="1B212C"/>
                </a:solidFill>
                <a:latin typeface="Arial Black"/>
                <a:cs typeface="Arial Black"/>
              </a:rPr>
              <a:t>in</a:t>
            </a:r>
            <a:r>
              <a:rPr sz="1800" spc="-17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B212C"/>
                </a:solidFill>
                <a:latin typeface="Arial Black"/>
                <a:cs typeface="Arial Black"/>
              </a:rPr>
              <a:t>business</a:t>
            </a:r>
            <a:endParaRPr sz="1800">
              <a:latin typeface="Arial Black"/>
              <a:cs typeface="Arial Black"/>
            </a:endParaRPr>
          </a:p>
          <a:p>
            <a:pPr marL="12700" marR="92710">
              <a:lnSpc>
                <a:spcPct val="114999"/>
              </a:lnSpc>
              <a:spcBef>
                <a:spcPts val="45"/>
              </a:spcBef>
            </a:pPr>
            <a:r>
              <a:rPr sz="16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analysis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is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essential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making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informed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business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decisions,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identifying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trends,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uncovering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opportunities.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1B212C"/>
                </a:solidFill>
                <a:latin typeface="Lucida Sans Unicode"/>
                <a:cs typeface="Lucida Sans Unicode"/>
              </a:rPr>
              <a:t>It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enables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organizations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harness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their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effectively,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leading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better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strategies, </a:t>
            </a:r>
            <a:r>
              <a:rPr sz="16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increased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efficiency,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competitive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85" dirty="0">
                <a:solidFill>
                  <a:srgbClr val="1B212C"/>
                </a:solidFill>
                <a:latin typeface="Lucida Sans Unicode"/>
                <a:cs typeface="Lucida Sans Unicode"/>
              </a:rPr>
              <a:t>edge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in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marketplace.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800" spc="-65" dirty="0">
                <a:solidFill>
                  <a:srgbClr val="1B212C"/>
                </a:solidFill>
                <a:latin typeface="Arial Black"/>
                <a:cs typeface="Arial Black"/>
              </a:rPr>
              <a:t>Overview</a:t>
            </a:r>
            <a:r>
              <a:rPr sz="1800" spc="-19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65" dirty="0">
                <a:solidFill>
                  <a:srgbClr val="1B212C"/>
                </a:solidFill>
                <a:latin typeface="Arial Black"/>
                <a:cs typeface="Arial Black"/>
              </a:rPr>
              <a:t>of</a:t>
            </a:r>
            <a:r>
              <a:rPr sz="1800" spc="-18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B212C"/>
                </a:solidFill>
                <a:latin typeface="Arial Black"/>
                <a:cs typeface="Arial Black"/>
              </a:rPr>
              <a:t>common</a:t>
            </a:r>
            <a:r>
              <a:rPr sz="1800" spc="-18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1B212C"/>
                </a:solidFill>
                <a:latin typeface="Arial Black"/>
                <a:cs typeface="Arial Black"/>
              </a:rPr>
              <a:t>tools:</a:t>
            </a:r>
            <a:r>
              <a:rPr sz="1800" spc="-18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45" dirty="0">
                <a:solidFill>
                  <a:srgbClr val="1B212C"/>
                </a:solidFill>
                <a:latin typeface="Arial Black"/>
                <a:cs typeface="Arial Black"/>
              </a:rPr>
              <a:t>Pandas</a:t>
            </a:r>
            <a:r>
              <a:rPr sz="1800" spc="-18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B212C"/>
                </a:solidFill>
                <a:latin typeface="Arial Black"/>
                <a:cs typeface="Arial Black"/>
              </a:rPr>
              <a:t>and</a:t>
            </a:r>
            <a:r>
              <a:rPr sz="1800" spc="-18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B212C"/>
                </a:solidFill>
                <a:latin typeface="Arial Black"/>
                <a:cs typeface="Arial Black"/>
              </a:rPr>
              <a:t>Matplotlib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14999"/>
              </a:lnSpc>
              <a:spcBef>
                <a:spcPts val="45"/>
              </a:spcBef>
            </a:pPr>
            <a:r>
              <a:rPr sz="1600" spc="90" dirty="0">
                <a:solidFill>
                  <a:srgbClr val="1B212C"/>
                </a:solidFill>
                <a:latin typeface="Lucida Sans Unicode"/>
                <a:cs typeface="Lucida Sans Unicode"/>
              </a:rPr>
              <a:t>Pandas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is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powerful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Python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library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used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manipulation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analysis,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offering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structures </a:t>
            </a:r>
            <a:r>
              <a:rPr sz="1600" spc="-45" dirty="0">
                <a:solidFill>
                  <a:srgbClr val="1B212C"/>
                </a:solidFill>
                <a:latin typeface="Lucida Sans Unicode"/>
                <a:cs typeface="Lucida Sans Unicode"/>
              </a:rPr>
              <a:t>like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65" dirty="0">
                <a:solidFill>
                  <a:srgbClr val="1B212C"/>
                </a:solidFill>
                <a:latin typeface="Lucida Sans Unicode"/>
                <a:cs typeface="Lucida Sans Unicode"/>
              </a:rPr>
              <a:t>DataFrame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Series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that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simplify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handling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structured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data.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Matplotlib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is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versatile</a:t>
            </a:r>
            <a:r>
              <a:rPr sz="16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visualization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library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that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helps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create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wide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range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of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static,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animated,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interactive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plots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visualize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80" dirty="0">
                <a:solidFill>
                  <a:srgbClr val="1B212C"/>
                </a:solidFill>
                <a:latin typeface="Lucida Sans Unicode"/>
                <a:cs typeface="Lucida Sans Unicode"/>
              </a:rPr>
              <a:t>data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insights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clearly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effectively.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800" spc="-80" dirty="0">
                <a:solidFill>
                  <a:srgbClr val="1B212C"/>
                </a:solidFill>
                <a:latin typeface="Arial Black"/>
                <a:cs typeface="Arial Black"/>
              </a:rPr>
              <a:t>Objectives</a:t>
            </a:r>
            <a:r>
              <a:rPr sz="1800" spc="-18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65" dirty="0">
                <a:solidFill>
                  <a:srgbClr val="1B212C"/>
                </a:solidFill>
                <a:latin typeface="Arial Black"/>
                <a:cs typeface="Arial Black"/>
              </a:rPr>
              <a:t>of</a:t>
            </a:r>
            <a:r>
              <a:rPr sz="1800" spc="-18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65" dirty="0">
                <a:solidFill>
                  <a:srgbClr val="1B212C"/>
                </a:solidFill>
                <a:latin typeface="Arial Black"/>
                <a:cs typeface="Arial Black"/>
              </a:rPr>
              <a:t>this</a:t>
            </a:r>
            <a:r>
              <a:rPr sz="1800" spc="-18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B212C"/>
                </a:solidFill>
                <a:latin typeface="Arial Black"/>
                <a:cs typeface="Arial Black"/>
              </a:rPr>
              <a:t>presentation</a:t>
            </a:r>
            <a:endParaRPr sz="1800">
              <a:latin typeface="Arial Black"/>
              <a:cs typeface="Arial Black"/>
            </a:endParaRPr>
          </a:p>
          <a:p>
            <a:pPr marL="12700" marR="132080">
              <a:lnSpc>
                <a:spcPct val="114999"/>
              </a:lnSpc>
              <a:spcBef>
                <a:spcPts val="45"/>
              </a:spcBef>
            </a:pP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Today, </a:t>
            </a:r>
            <a:r>
              <a:rPr sz="1600" spc="85" dirty="0">
                <a:solidFill>
                  <a:srgbClr val="1B212C"/>
                </a:solidFill>
                <a:latin typeface="Lucida Sans Unicode"/>
                <a:cs typeface="Lucida Sans Unicode"/>
              </a:rPr>
              <a:t>we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1B212C"/>
                </a:solidFill>
                <a:latin typeface="Lucida Sans Unicode"/>
                <a:cs typeface="Lucida Sans Unicode"/>
              </a:rPr>
              <a:t>will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explore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the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fundamentals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of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analysis using </a:t>
            </a:r>
            <a:r>
              <a:rPr sz="1600" spc="90" dirty="0">
                <a:solidFill>
                  <a:srgbClr val="1B212C"/>
                </a:solidFill>
                <a:latin typeface="Lucida Sans Unicode"/>
                <a:cs typeface="Lucida Sans Unicode"/>
              </a:rPr>
              <a:t>Pandas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manipulation </a:t>
            </a:r>
            <a:r>
              <a:rPr sz="16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and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Matplotlib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visualization.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Our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goal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is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equip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beginners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with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1B212C"/>
                </a:solidFill>
                <a:latin typeface="Lucida Sans Unicode"/>
                <a:cs typeface="Lucida Sans Unicode"/>
              </a:rPr>
              <a:t>skills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needed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load,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analyze,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and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visualize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data,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laying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strong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foundation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further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exploration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in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science.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215992"/>
            <a:ext cx="506730" cy="711200"/>
          </a:xfrm>
          <a:custGeom>
            <a:avLst/>
            <a:gdLst/>
            <a:ahLst/>
            <a:cxnLst/>
            <a:rect l="l" t="t" r="r" b="b"/>
            <a:pathLst>
              <a:path w="506730" h="711200">
                <a:moveTo>
                  <a:pt x="249682" y="711181"/>
                </a:moveTo>
                <a:lnTo>
                  <a:pt x="53351" y="711181"/>
                </a:lnTo>
                <a:lnTo>
                  <a:pt x="7221" y="707046"/>
                </a:lnTo>
                <a:lnTo>
                  <a:pt x="0" y="705063"/>
                </a:lnTo>
                <a:lnTo>
                  <a:pt x="0" y="6117"/>
                </a:lnTo>
                <a:lnTo>
                  <a:pt x="7221" y="4134"/>
                </a:lnTo>
                <a:lnTo>
                  <a:pt x="53351" y="0"/>
                </a:lnTo>
                <a:lnTo>
                  <a:pt x="249682" y="0"/>
                </a:lnTo>
                <a:lnTo>
                  <a:pt x="299982" y="4976"/>
                </a:lnTo>
                <a:lnTo>
                  <a:pt x="347890" y="19534"/>
                </a:lnTo>
                <a:lnTo>
                  <a:pt x="392061" y="43116"/>
                </a:lnTo>
                <a:lnTo>
                  <a:pt x="431148" y="75165"/>
                </a:lnTo>
                <a:lnTo>
                  <a:pt x="463196" y="114252"/>
                </a:lnTo>
                <a:lnTo>
                  <a:pt x="486779" y="158422"/>
                </a:lnTo>
                <a:lnTo>
                  <a:pt x="501337" y="206331"/>
                </a:lnTo>
                <a:lnTo>
                  <a:pt x="506313" y="256631"/>
                </a:lnTo>
                <a:lnTo>
                  <a:pt x="506313" y="454549"/>
                </a:lnTo>
                <a:lnTo>
                  <a:pt x="502179" y="500679"/>
                </a:lnTo>
                <a:lnTo>
                  <a:pt x="490258" y="544097"/>
                </a:lnTo>
                <a:lnTo>
                  <a:pt x="471276" y="584076"/>
                </a:lnTo>
                <a:lnTo>
                  <a:pt x="445957" y="619894"/>
                </a:lnTo>
                <a:lnTo>
                  <a:pt x="415026" y="650825"/>
                </a:lnTo>
                <a:lnTo>
                  <a:pt x="379209" y="676143"/>
                </a:lnTo>
                <a:lnTo>
                  <a:pt x="339229" y="695126"/>
                </a:lnTo>
                <a:lnTo>
                  <a:pt x="295812" y="707046"/>
                </a:lnTo>
                <a:lnTo>
                  <a:pt x="249682" y="7111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898185" y="4469236"/>
            <a:ext cx="1294130" cy="1575435"/>
          </a:xfrm>
          <a:custGeom>
            <a:avLst/>
            <a:gdLst/>
            <a:ahLst/>
            <a:cxnLst/>
            <a:rect l="l" t="t" r="r" b="b"/>
            <a:pathLst>
              <a:path w="1294129" h="1575435">
                <a:moveTo>
                  <a:pt x="1293814" y="1574993"/>
                </a:moveTo>
                <a:lnTo>
                  <a:pt x="246281" y="1574993"/>
                </a:lnTo>
                <a:lnTo>
                  <a:pt x="196647" y="1569990"/>
                </a:lnTo>
                <a:lnTo>
                  <a:pt x="150417" y="1555639"/>
                </a:lnTo>
                <a:lnTo>
                  <a:pt x="108583" y="1532932"/>
                </a:lnTo>
                <a:lnTo>
                  <a:pt x="72134" y="1502859"/>
                </a:lnTo>
                <a:lnTo>
                  <a:pt x="42061" y="1466410"/>
                </a:lnTo>
                <a:lnTo>
                  <a:pt x="19354" y="1424576"/>
                </a:lnTo>
                <a:lnTo>
                  <a:pt x="5003" y="1378346"/>
                </a:lnTo>
                <a:lnTo>
                  <a:pt x="0" y="1328712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7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1293814" y="0"/>
                </a:lnTo>
                <a:lnTo>
                  <a:pt x="1293814" y="1574993"/>
                </a:lnTo>
                <a:close/>
              </a:path>
            </a:pathLst>
          </a:custGeom>
          <a:solidFill>
            <a:srgbClr val="D8EA61">
              <a:alpha val="3686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301231" y="927759"/>
            <a:ext cx="890905" cy="1575435"/>
          </a:xfrm>
          <a:custGeom>
            <a:avLst/>
            <a:gdLst/>
            <a:ahLst/>
            <a:cxnLst/>
            <a:rect l="l" t="t" r="r" b="b"/>
            <a:pathLst>
              <a:path w="890904" h="1575435">
                <a:moveTo>
                  <a:pt x="890768" y="1574993"/>
                </a:moveTo>
                <a:lnTo>
                  <a:pt x="246281" y="1574993"/>
                </a:lnTo>
                <a:lnTo>
                  <a:pt x="196647" y="1569990"/>
                </a:lnTo>
                <a:lnTo>
                  <a:pt x="150417" y="1555639"/>
                </a:lnTo>
                <a:lnTo>
                  <a:pt x="108583" y="1532932"/>
                </a:lnTo>
                <a:lnTo>
                  <a:pt x="72134" y="1502859"/>
                </a:lnTo>
                <a:lnTo>
                  <a:pt x="42061" y="1466410"/>
                </a:lnTo>
                <a:lnTo>
                  <a:pt x="19354" y="1424576"/>
                </a:lnTo>
                <a:lnTo>
                  <a:pt x="5003" y="1378346"/>
                </a:lnTo>
                <a:lnTo>
                  <a:pt x="0" y="1328712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7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890768" y="0"/>
                </a:lnTo>
                <a:lnTo>
                  <a:pt x="890768" y="1574993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44168" y="6176962"/>
            <a:ext cx="1575435" cy="681355"/>
          </a:xfrm>
          <a:custGeom>
            <a:avLst/>
            <a:gdLst/>
            <a:ahLst/>
            <a:cxnLst/>
            <a:rect l="l" t="t" r="r" b="b"/>
            <a:pathLst>
              <a:path w="1575434" h="681354">
                <a:moveTo>
                  <a:pt x="1574999" y="681037"/>
                </a:moveTo>
                <a:lnTo>
                  <a:pt x="0" y="681037"/>
                </a:lnTo>
                <a:lnTo>
                  <a:pt x="0" y="246281"/>
                </a:lnTo>
                <a:lnTo>
                  <a:pt x="5003" y="196647"/>
                </a:lnTo>
                <a:lnTo>
                  <a:pt x="19353" y="150417"/>
                </a:lnTo>
                <a:lnTo>
                  <a:pt x="42060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7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1328717" y="0"/>
                </a:lnTo>
                <a:lnTo>
                  <a:pt x="1376988" y="4775"/>
                </a:lnTo>
                <a:lnTo>
                  <a:pt x="1422965" y="18747"/>
                </a:lnTo>
                <a:lnTo>
                  <a:pt x="1465354" y="41378"/>
                </a:lnTo>
                <a:lnTo>
                  <a:pt x="1502864" y="72134"/>
                </a:lnTo>
                <a:lnTo>
                  <a:pt x="1533620" y="109644"/>
                </a:lnTo>
                <a:lnTo>
                  <a:pt x="1556251" y="152033"/>
                </a:lnTo>
                <a:lnTo>
                  <a:pt x="1570223" y="198010"/>
                </a:lnTo>
                <a:lnTo>
                  <a:pt x="1574999" y="246281"/>
                </a:lnTo>
                <a:lnTo>
                  <a:pt x="1574999" y="6810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0" y="4294714"/>
            <a:ext cx="1353185" cy="1219200"/>
            <a:chOff x="0" y="4294714"/>
            <a:chExt cx="1353185" cy="12192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294714"/>
              <a:ext cx="1352603" cy="121918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4369108"/>
              <a:ext cx="919480" cy="711200"/>
            </a:xfrm>
            <a:custGeom>
              <a:avLst/>
              <a:gdLst/>
              <a:ahLst/>
              <a:cxnLst/>
              <a:rect l="l" t="t" r="r" b="b"/>
              <a:pathLst>
                <a:path w="919480" h="711200">
                  <a:moveTo>
                    <a:pt x="661791" y="711181"/>
                  </a:moveTo>
                  <a:lnTo>
                    <a:pt x="0" y="711181"/>
                  </a:lnTo>
                  <a:lnTo>
                    <a:pt x="0" y="0"/>
                  </a:lnTo>
                  <a:lnTo>
                    <a:pt x="661791" y="0"/>
                  </a:lnTo>
                  <a:lnTo>
                    <a:pt x="712204" y="4987"/>
                  </a:lnTo>
                  <a:lnTo>
                    <a:pt x="760220" y="19578"/>
                  </a:lnTo>
                  <a:lnTo>
                    <a:pt x="804489" y="43213"/>
                  </a:lnTo>
                  <a:lnTo>
                    <a:pt x="843664" y="75333"/>
                  </a:lnTo>
                  <a:lnTo>
                    <a:pt x="875784" y="114508"/>
                  </a:lnTo>
                  <a:lnTo>
                    <a:pt x="899419" y="158777"/>
                  </a:lnTo>
                  <a:lnTo>
                    <a:pt x="914010" y="206793"/>
                  </a:lnTo>
                  <a:lnTo>
                    <a:pt x="918997" y="257206"/>
                  </a:lnTo>
                  <a:lnTo>
                    <a:pt x="918997" y="453975"/>
                  </a:lnTo>
                  <a:lnTo>
                    <a:pt x="914854" y="500208"/>
                  </a:lnTo>
                  <a:lnTo>
                    <a:pt x="902906" y="543723"/>
                  </a:lnTo>
                  <a:lnTo>
                    <a:pt x="883881" y="583792"/>
                  </a:lnTo>
                  <a:lnTo>
                    <a:pt x="858506" y="619690"/>
                  </a:lnTo>
                  <a:lnTo>
                    <a:pt x="827506" y="650690"/>
                  </a:lnTo>
                  <a:lnTo>
                    <a:pt x="791608" y="676065"/>
                  </a:lnTo>
                  <a:lnTo>
                    <a:pt x="751539" y="695090"/>
                  </a:lnTo>
                  <a:lnTo>
                    <a:pt x="708025" y="707038"/>
                  </a:lnTo>
                  <a:lnTo>
                    <a:pt x="661791" y="711181"/>
                  </a:lnTo>
                  <a:close/>
                </a:path>
              </a:pathLst>
            </a:custGeom>
            <a:solidFill>
              <a:srgbClr val="D8EA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Getting</a:t>
            </a:r>
            <a:r>
              <a:rPr spc="-40" dirty="0"/>
              <a:t> </a:t>
            </a:r>
            <a:r>
              <a:rPr spc="90" dirty="0"/>
              <a:t>Started</a:t>
            </a:r>
            <a:r>
              <a:rPr spc="-3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spc="170" dirty="0"/>
              <a:t>Pandas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11225" y="1794446"/>
            <a:ext cx="10327640" cy="40684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800" dirty="0">
                <a:solidFill>
                  <a:srgbClr val="1B212C"/>
                </a:solidFill>
                <a:latin typeface="Arial Black"/>
                <a:cs typeface="Arial Black"/>
              </a:rPr>
              <a:t>What</a:t>
            </a:r>
            <a:r>
              <a:rPr sz="1800" spc="-19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85" dirty="0">
                <a:solidFill>
                  <a:srgbClr val="1B212C"/>
                </a:solidFill>
                <a:latin typeface="Arial Black"/>
                <a:cs typeface="Arial Black"/>
              </a:rPr>
              <a:t>is</a:t>
            </a:r>
            <a:r>
              <a:rPr sz="1800" spc="-19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45" dirty="0">
                <a:solidFill>
                  <a:srgbClr val="1B212C"/>
                </a:solidFill>
                <a:latin typeface="Arial Black"/>
                <a:cs typeface="Arial Black"/>
              </a:rPr>
              <a:t>Pandas</a:t>
            </a:r>
            <a:r>
              <a:rPr sz="1800" spc="-19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B212C"/>
                </a:solidFill>
                <a:latin typeface="Arial Black"/>
                <a:cs typeface="Arial Black"/>
              </a:rPr>
              <a:t>and</a:t>
            </a:r>
            <a:r>
              <a:rPr sz="1800" spc="-19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90" dirty="0">
                <a:solidFill>
                  <a:srgbClr val="1B212C"/>
                </a:solidFill>
                <a:latin typeface="Arial Black"/>
                <a:cs typeface="Arial Black"/>
              </a:rPr>
              <a:t>its</a:t>
            </a:r>
            <a:r>
              <a:rPr sz="1800" spc="-18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75" dirty="0">
                <a:solidFill>
                  <a:srgbClr val="1B212C"/>
                </a:solidFill>
                <a:latin typeface="Arial Black"/>
                <a:cs typeface="Arial Black"/>
              </a:rPr>
              <a:t>role</a:t>
            </a:r>
            <a:r>
              <a:rPr sz="1800" spc="-19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45" dirty="0">
                <a:solidFill>
                  <a:srgbClr val="1B212C"/>
                </a:solidFill>
                <a:latin typeface="Arial Black"/>
                <a:cs typeface="Arial Black"/>
              </a:rPr>
              <a:t>in</a:t>
            </a:r>
            <a:r>
              <a:rPr sz="1800" spc="-19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1B212C"/>
                </a:solidFill>
                <a:latin typeface="Arial Black"/>
                <a:cs typeface="Arial Black"/>
              </a:rPr>
              <a:t>data</a:t>
            </a:r>
            <a:r>
              <a:rPr sz="1800" spc="-19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B212C"/>
                </a:solidFill>
                <a:latin typeface="Arial Black"/>
                <a:cs typeface="Arial Black"/>
              </a:rPr>
              <a:t>manipulation</a:t>
            </a:r>
            <a:endParaRPr sz="1800">
              <a:latin typeface="Arial Black"/>
              <a:cs typeface="Arial Black"/>
            </a:endParaRPr>
          </a:p>
          <a:p>
            <a:pPr marL="12700" marR="208915">
              <a:lnSpc>
                <a:spcPct val="114999"/>
              </a:lnSpc>
              <a:spcBef>
                <a:spcPts val="45"/>
              </a:spcBef>
            </a:pPr>
            <a:r>
              <a:rPr sz="1600" spc="90" dirty="0">
                <a:solidFill>
                  <a:srgbClr val="1B212C"/>
                </a:solidFill>
                <a:latin typeface="Lucida Sans Unicode"/>
                <a:cs typeface="Lucida Sans Unicode"/>
              </a:rPr>
              <a:t>Pandas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is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Python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library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designed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make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manipulation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analysis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straightforward.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It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provides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flexible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structures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1B212C"/>
                </a:solidFill>
                <a:latin typeface="Lucida Sans Unicode"/>
                <a:cs typeface="Lucida Sans Unicode"/>
              </a:rPr>
              <a:t>like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60" dirty="0">
                <a:solidFill>
                  <a:srgbClr val="1B212C"/>
                </a:solidFill>
                <a:latin typeface="Lucida Sans Unicode"/>
                <a:cs typeface="Lucida Sans Unicode"/>
              </a:rPr>
              <a:t>DataFrames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Series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that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allow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you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clean,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1B212C"/>
                </a:solidFill>
                <a:latin typeface="Lucida Sans Unicode"/>
                <a:cs typeface="Lucida Sans Unicode"/>
              </a:rPr>
              <a:t>filter,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transform,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analyze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efficiently,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making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complex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tasks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85" dirty="0">
                <a:solidFill>
                  <a:srgbClr val="1B212C"/>
                </a:solidFill>
                <a:latin typeface="Lucida Sans Unicode"/>
                <a:cs typeface="Lucida Sans Unicode"/>
              </a:rPr>
              <a:t>much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simpler.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800" spc="-105" dirty="0">
                <a:solidFill>
                  <a:srgbClr val="1B212C"/>
                </a:solidFill>
                <a:latin typeface="Arial Black"/>
                <a:cs typeface="Arial Black"/>
              </a:rPr>
              <a:t>Basic</a:t>
            </a:r>
            <a:r>
              <a:rPr sz="1800" spc="-17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1B212C"/>
                </a:solidFill>
                <a:latin typeface="Arial Black"/>
                <a:cs typeface="Arial Black"/>
              </a:rPr>
              <a:t>data</a:t>
            </a:r>
            <a:r>
              <a:rPr sz="1800" spc="-17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75" dirty="0">
                <a:solidFill>
                  <a:srgbClr val="1B212C"/>
                </a:solidFill>
                <a:latin typeface="Arial Black"/>
                <a:cs typeface="Arial Black"/>
              </a:rPr>
              <a:t>structures:</a:t>
            </a:r>
            <a:r>
              <a:rPr sz="1800" spc="-17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45" dirty="0">
                <a:solidFill>
                  <a:srgbClr val="1B212C"/>
                </a:solidFill>
                <a:latin typeface="Arial Black"/>
                <a:cs typeface="Arial Black"/>
              </a:rPr>
              <a:t>DataFrame</a:t>
            </a:r>
            <a:r>
              <a:rPr sz="1800" spc="-17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B212C"/>
                </a:solidFill>
                <a:latin typeface="Arial Black"/>
                <a:cs typeface="Arial Black"/>
              </a:rPr>
              <a:t>and</a:t>
            </a:r>
            <a:r>
              <a:rPr sz="1800" spc="-17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B212C"/>
                </a:solidFill>
                <a:latin typeface="Arial Black"/>
                <a:cs typeface="Arial Black"/>
              </a:rPr>
              <a:t>Series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14999"/>
              </a:lnSpc>
              <a:spcBef>
                <a:spcPts val="45"/>
              </a:spcBef>
            </a:pP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65" dirty="0">
                <a:solidFill>
                  <a:srgbClr val="1B212C"/>
                </a:solidFill>
                <a:latin typeface="Lucida Sans Unicode"/>
                <a:cs typeface="Lucida Sans Unicode"/>
              </a:rPr>
              <a:t>DataFrame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is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two-dimensional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tabular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structure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similar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spreadsheet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or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SQL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table,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with </a:t>
            </a:r>
            <a:r>
              <a:rPr sz="16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labeled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axes.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Series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is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one-dimensional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labeled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60" dirty="0">
                <a:solidFill>
                  <a:srgbClr val="1B212C"/>
                </a:solidFill>
                <a:latin typeface="Lucida Sans Unicode"/>
                <a:cs typeface="Lucida Sans Unicode"/>
              </a:rPr>
              <a:t>array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0" dirty="0">
                <a:solidFill>
                  <a:srgbClr val="1B212C"/>
                </a:solidFill>
                <a:latin typeface="Lucida Sans Unicode"/>
                <a:cs typeface="Lucida Sans Unicode"/>
              </a:rPr>
              <a:t>capable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of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holding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0" dirty="0">
                <a:solidFill>
                  <a:srgbClr val="1B212C"/>
                </a:solidFill>
                <a:latin typeface="Lucida Sans Unicode"/>
                <a:cs typeface="Lucida Sans Unicode"/>
              </a:rPr>
              <a:t>any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type.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Together,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these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structures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form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65" dirty="0">
                <a:solidFill>
                  <a:srgbClr val="1B212C"/>
                </a:solidFill>
                <a:latin typeface="Lucida Sans Unicode"/>
                <a:cs typeface="Lucida Sans Unicode"/>
              </a:rPr>
              <a:t>backbone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of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analysis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in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Pandas.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800" spc="-65" dirty="0">
                <a:solidFill>
                  <a:srgbClr val="1B212C"/>
                </a:solidFill>
                <a:latin typeface="Arial Black"/>
                <a:cs typeface="Arial Black"/>
              </a:rPr>
              <a:t>Loading</a:t>
            </a:r>
            <a:r>
              <a:rPr sz="1800" spc="-18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1B212C"/>
                </a:solidFill>
                <a:latin typeface="Arial Black"/>
                <a:cs typeface="Arial Black"/>
              </a:rPr>
              <a:t>data</a:t>
            </a:r>
            <a:r>
              <a:rPr sz="1800" spc="-18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1B212C"/>
                </a:solidFill>
                <a:latin typeface="Arial Black"/>
                <a:cs typeface="Arial Black"/>
              </a:rPr>
              <a:t>from</a:t>
            </a:r>
            <a:r>
              <a:rPr sz="1800" spc="-18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114" dirty="0">
                <a:solidFill>
                  <a:srgbClr val="1B212C"/>
                </a:solidFill>
                <a:latin typeface="Arial Black"/>
                <a:cs typeface="Arial Black"/>
              </a:rPr>
              <a:t>CSV</a:t>
            </a:r>
            <a:r>
              <a:rPr sz="1800" spc="-18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B212C"/>
                </a:solidFill>
                <a:latin typeface="Arial Black"/>
                <a:cs typeface="Arial Black"/>
              </a:rPr>
              <a:t>files</a:t>
            </a:r>
            <a:endParaRPr sz="1800">
              <a:latin typeface="Arial Black"/>
              <a:cs typeface="Arial Black"/>
            </a:endParaRPr>
          </a:p>
          <a:p>
            <a:pPr marL="12700" marR="97155">
              <a:lnSpc>
                <a:spcPct val="114999"/>
              </a:lnSpc>
              <a:spcBef>
                <a:spcPts val="45"/>
              </a:spcBef>
            </a:pP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One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of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Pandas’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most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0" dirty="0">
                <a:solidFill>
                  <a:srgbClr val="1B212C"/>
                </a:solidFill>
                <a:latin typeface="Lucida Sans Unicode"/>
                <a:cs typeface="Lucida Sans Unicode"/>
              </a:rPr>
              <a:t>common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tasks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is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loading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from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CSV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files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using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`read_csv`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function.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This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allows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you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bring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external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65" dirty="0">
                <a:solidFill>
                  <a:srgbClr val="1B212C"/>
                </a:solidFill>
                <a:latin typeface="Lucida Sans Unicode"/>
                <a:cs typeface="Lucida Sans Unicode"/>
              </a:rPr>
              <a:t>datasets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into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Python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analysis.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65" dirty="0">
                <a:solidFill>
                  <a:srgbClr val="1B212C"/>
                </a:solidFill>
                <a:latin typeface="Lucida Sans Unicode"/>
                <a:cs typeface="Lucida Sans Unicode"/>
              </a:rPr>
              <a:t>Once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loaded,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14" dirty="0">
                <a:solidFill>
                  <a:srgbClr val="1B212C"/>
                </a:solidFill>
                <a:latin typeface="Lucida Sans Unicode"/>
                <a:cs typeface="Lucida Sans Unicode"/>
              </a:rPr>
              <a:t>can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85" dirty="0">
                <a:solidFill>
                  <a:srgbClr val="1B212C"/>
                </a:solidFill>
                <a:latin typeface="Lucida Sans Unicode"/>
                <a:cs typeface="Lucida Sans Unicode"/>
              </a:rPr>
              <a:t>be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explored,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modified,</a:t>
            </a:r>
            <a:r>
              <a:rPr sz="1600" spc="-6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-6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visualized</a:t>
            </a:r>
            <a:r>
              <a:rPr sz="1600" spc="-6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with</a:t>
            </a:r>
            <a:r>
              <a:rPr sz="1600" spc="-6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ease.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85203" y="6062857"/>
            <a:ext cx="1575435" cy="795655"/>
          </a:xfrm>
          <a:custGeom>
            <a:avLst/>
            <a:gdLst/>
            <a:ahLst/>
            <a:cxnLst/>
            <a:rect l="l" t="t" r="r" b="b"/>
            <a:pathLst>
              <a:path w="1575434" h="795654">
                <a:moveTo>
                  <a:pt x="1574999" y="795143"/>
                </a:moveTo>
                <a:lnTo>
                  <a:pt x="0" y="795143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8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1328716" y="0"/>
                </a:lnTo>
                <a:lnTo>
                  <a:pt x="1376988" y="4775"/>
                </a:lnTo>
                <a:lnTo>
                  <a:pt x="1422965" y="18747"/>
                </a:lnTo>
                <a:lnTo>
                  <a:pt x="1465354" y="41378"/>
                </a:lnTo>
                <a:lnTo>
                  <a:pt x="1502864" y="72134"/>
                </a:lnTo>
                <a:lnTo>
                  <a:pt x="1533621" y="109644"/>
                </a:lnTo>
                <a:lnTo>
                  <a:pt x="1556252" y="152033"/>
                </a:lnTo>
                <a:lnTo>
                  <a:pt x="1570223" y="198010"/>
                </a:lnTo>
                <a:lnTo>
                  <a:pt x="1574999" y="246281"/>
                </a:lnTo>
                <a:lnTo>
                  <a:pt x="1574999" y="795143"/>
                </a:lnTo>
                <a:close/>
              </a:path>
            </a:pathLst>
          </a:custGeom>
          <a:solidFill>
            <a:srgbClr val="D8E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777690"/>
            <a:ext cx="894715" cy="1575435"/>
          </a:xfrm>
          <a:custGeom>
            <a:avLst/>
            <a:gdLst/>
            <a:ahLst/>
            <a:cxnLst/>
            <a:rect l="l" t="t" r="r" b="b"/>
            <a:pathLst>
              <a:path w="894715" h="1575435">
                <a:moveTo>
                  <a:pt x="647931" y="1574993"/>
                </a:moveTo>
                <a:lnTo>
                  <a:pt x="0" y="1574993"/>
                </a:lnTo>
                <a:lnTo>
                  <a:pt x="0" y="0"/>
                </a:lnTo>
                <a:lnTo>
                  <a:pt x="647931" y="0"/>
                </a:lnTo>
                <a:lnTo>
                  <a:pt x="696202" y="4775"/>
                </a:lnTo>
                <a:lnTo>
                  <a:pt x="742179" y="18747"/>
                </a:lnTo>
                <a:lnTo>
                  <a:pt x="784568" y="41378"/>
                </a:lnTo>
                <a:lnTo>
                  <a:pt x="822078" y="72134"/>
                </a:lnTo>
                <a:lnTo>
                  <a:pt x="852834" y="109644"/>
                </a:lnTo>
                <a:lnTo>
                  <a:pt x="875465" y="152033"/>
                </a:lnTo>
                <a:lnTo>
                  <a:pt x="889437" y="198010"/>
                </a:lnTo>
                <a:lnTo>
                  <a:pt x="894212" y="246281"/>
                </a:lnTo>
                <a:lnTo>
                  <a:pt x="894212" y="1328712"/>
                </a:lnTo>
                <a:lnTo>
                  <a:pt x="889209" y="1378346"/>
                </a:lnTo>
                <a:lnTo>
                  <a:pt x="874858" y="1424576"/>
                </a:lnTo>
                <a:lnTo>
                  <a:pt x="852151" y="1466410"/>
                </a:lnTo>
                <a:lnTo>
                  <a:pt x="822078" y="1502859"/>
                </a:lnTo>
                <a:lnTo>
                  <a:pt x="785629" y="1532932"/>
                </a:lnTo>
                <a:lnTo>
                  <a:pt x="743795" y="1555639"/>
                </a:lnTo>
                <a:lnTo>
                  <a:pt x="697565" y="1569990"/>
                </a:lnTo>
                <a:lnTo>
                  <a:pt x="647931" y="1574993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63613" y="3488368"/>
            <a:ext cx="528955" cy="1575435"/>
          </a:xfrm>
          <a:custGeom>
            <a:avLst/>
            <a:gdLst/>
            <a:ahLst/>
            <a:cxnLst/>
            <a:rect l="l" t="t" r="r" b="b"/>
            <a:pathLst>
              <a:path w="528954" h="1575435">
                <a:moveTo>
                  <a:pt x="528386" y="1574993"/>
                </a:moveTo>
                <a:lnTo>
                  <a:pt x="246281" y="1574993"/>
                </a:lnTo>
                <a:lnTo>
                  <a:pt x="196647" y="1569990"/>
                </a:lnTo>
                <a:lnTo>
                  <a:pt x="150417" y="1555639"/>
                </a:lnTo>
                <a:lnTo>
                  <a:pt x="108583" y="1532932"/>
                </a:lnTo>
                <a:lnTo>
                  <a:pt x="72134" y="1502859"/>
                </a:lnTo>
                <a:lnTo>
                  <a:pt x="42061" y="1466410"/>
                </a:lnTo>
                <a:lnTo>
                  <a:pt x="19354" y="1424576"/>
                </a:lnTo>
                <a:lnTo>
                  <a:pt x="5003" y="1378346"/>
                </a:lnTo>
                <a:lnTo>
                  <a:pt x="0" y="1328711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7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528386" y="0"/>
                </a:lnTo>
                <a:lnTo>
                  <a:pt x="528386" y="1574993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429000"/>
            <a:ext cx="892175" cy="711200"/>
          </a:xfrm>
          <a:custGeom>
            <a:avLst/>
            <a:gdLst/>
            <a:ahLst/>
            <a:cxnLst/>
            <a:rect l="l" t="t" r="r" b="b"/>
            <a:pathLst>
              <a:path w="892175" h="711200">
                <a:moveTo>
                  <a:pt x="634738" y="711181"/>
                </a:moveTo>
                <a:lnTo>
                  <a:pt x="0" y="711181"/>
                </a:lnTo>
                <a:lnTo>
                  <a:pt x="0" y="0"/>
                </a:lnTo>
                <a:lnTo>
                  <a:pt x="634738" y="0"/>
                </a:lnTo>
                <a:lnTo>
                  <a:pt x="685151" y="4987"/>
                </a:lnTo>
                <a:lnTo>
                  <a:pt x="733167" y="19578"/>
                </a:lnTo>
                <a:lnTo>
                  <a:pt x="777436" y="43213"/>
                </a:lnTo>
                <a:lnTo>
                  <a:pt x="816611" y="75333"/>
                </a:lnTo>
                <a:lnTo>
                  <a:pt x="848731" y="114508"/>
                </a:lnTo>
                <a:lnTo>
                  <a:pt x="872366" y="158777"/>
                </a:lnTo>
                <a:lnTo>
                  <a:pt x="886957" y="206793"/>
                </a:lnTo>
                <a:lnTo>
                  <a:pt x="891944" y="257206"/>
                </a:lnTo>
                <a:lnTo>
                  <a:pt x="891944" y="453975"/>
                </a:lnTo>
                <a:lnTo>
                  <a:pt x="887801" y="500208"/>
                </a:lnTo>
                <a:lnTo>
                  <a:pt x="875853" y="543723"/>
                </a:lnTo>
                <a:lnTo>
                  <a:pt x="856828" y="583792"/>
                </a:lnTo>
                <a:lnTo>
                  <a:pt x="831453" y="619690"/>
                </a:lnTo>
                <a:lnTo>
                  <a:pt x="800453" y="650690"/>
                </a:lnTo>
                <a:lnTo>
                  <a:pt x="764555" y="676065"/>
                </a:lnTo>
                <a:lnTo>
                  <a:pt x="724486" y="695090"/>
                </a:lnTo>
                <a:lnTo>
                  <a:pt x="680972" y="707038"/>
                </a:lnTo>
                <a:lnTo>
                  <a:pt x="634738" y="711181"/>
                </a:lnTo>
                <a:close/>
              </a:path>
            </a:pathLst>
          </a:custGeom>
          <a:solidFill>
            <a:srgbClr val="D8EA61">
              <a:alpha val="2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37203" y="2558837"/>
            <a:ext cx="354965" cy="711200"/>
          </a:xfrm>
          <a:custGeom>
            <a:avLst/>
            <a:gdLst/>
            <a:ahLst/>
            <a:cxnLst/>
            <a:rect l="l" t="t" r="r" b="b"/>
            <a:pathLst>
              <a:path w="354965" h="711200">
                <a:moveTo>
                  <a:pt x="354797" y="711181"/>
                </a:moveTo>
                <a:lnTo>
                  <a:pt x="256631" y="711181"/>
                </a:lnTo>
                <a:lnTo>
                  <a:pt x="210501" y="707047"/>
                </a:lnTo>
                <a:lnTo>
                  <a:pt x="167084" y="695126"/>
                </a:lnTo>
                <a:lnTo>
                  <a:pt x="127104" y="676144"/>
                </a:lnTo>
                <a:lnTo>
                  <a:pt x="91287" y="650825"/>
                </a:lnTo>
                <a:lnTo>
                  <a:pt x="60356" y="619894"/>
                </a:lnTo>
                <a:lnTo>
                  <a:pt x="35037" y="584077"/>
                </a:lnTo>
                <a:lnTo>
                  <a:pt x="16055" y="544097"/>
                </a:lnTo>
                <a:lnTo>
                  <a:pt x="4134" y="500680"/>
                </a:lnTo>
                <a:lnTo>
                  <a:pt x="0" y="454550"/>
                </a:lnTo>
                <a:lnTo>
                  <a:pt x="0" y="256631"/>
                </a:lnTo>
                <a:lnTo>
                  <a:pt x="4134" y="210501"/>
                </a:lnTo>
                <a:lnTo>
                  <a:pt x="16055" y="167084"/>
                </a:lnTo>
                <a:lnTo>
                  <a:pt x="35037" y="127104"/>
                </a:lnTo>
                <a:lnTo>
                  <a:pt x="60356" y="91287"/>
                </a:lnTo>
                <a:lnTo>
                  <a:pt x="91287" y="60356"/>
                </a:lnTo>
                <a:lnTo>
                  <a:pt x="127104" y="35037"/>
                </a:lnTo>
                <a:lnTo>
                  <a:pt x="167084" y="16055"/>
                </a:lnTo>
                <a:lnTo>
                  <a:pt x="210501" y="4134"/>
                </a:lnTo>
                <a:lnTo>
                  <a:pt x="256631" y="0"/>
                </a:lnTo>
                <a:lnTo>
                  <a:pt x="354797" y="0"/>
                </a:lnTo>
                <a:lnTo>
                  <a:pt x="354797" y="711181"/>
                </a:lnTo>
                <a:close/>
              </a:path>
            </a:pathLst>
          </a:custGeom>
          <a:solidFill>
            <a:srgbClr val="FACE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Data</a:t>
            </a:r>
            <a:r>
              <a:rPr spc="-180" dirty="0"/>
              <a:t> </a:t>
            </a:r>
            <a:r>
              <a:rPr spc="-10" dirty="0"/>
              <a:t>Exploration</a:t>
            </a:r>
            <a:r>
              <a:rPr spc="-180" dirty="0"/>
              <a:t> </a:t>
            </a:r>
            <a:r>
              <a:rPr dirty="0"/>
              <a:t>with</a:t>
            </a:r>
            <a:r>
              <a:rPr spc="-180" dirty="0"/>
              <a:t> </a:t>
            </a:r>
            <a:r>
              <a:rPr spc="170" dirty="0"/>
              <a:t>Pandas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1225" y="1794446"/>
            <a:ext cx="10328275" cy="40684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800" spc="-75" dirty="0">
                <a:solidFill>
                  <a:srgbClr val="1B212C"/>
                </a:solidFill>
                <a:latin typeface="Arial Black"/>
                <a:cs typeface="Arial Black"/>
              </a:rPr>
              <a:t>Viewing</a:t>
            </a:r>
            <a:r>
              <a:rPr sz="1800" spc="-16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B212C"/>
                </a:solidFill>
                <a:latin typeface="Arial Black"/>
                <a:cs typeface="Arial Black"/>
              </a:rPr>
              <a:t>and</a:t>
            </a:r>
            <a:r>
              <a:rPr sz="1800" spc="-16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60" dirty="0">
                <a:solidFill>
                  <a:srgbClr val="1B212C"/>
                </a:solidFill>
                <a:latin typeface="Arial Black"/>
                <a:cs typeface="Arial Black"/>
              </a:rPr>
              <a:t>inspecting</a:t>
            </a:r>
            <a:r>
              <a:rPr sz="1800" spc="-16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1B212C"/>
                </a:solidFill>
                <a:latin typeface="Arial Black"/>
                <a:cs typeface="Arial Black"/>
              </a:rPr>
              <a:t>data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14999"/>
              </a:lnSpc>
              <a:spcBef>
                <a:spcPts val="45"/>
              </a:spcBef>
            </a:pPr>
            <a:r>
              <a:rPr sz="1600" spc="-6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understand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your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dataset,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start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60" dirty="0">
                <a:solidFill>
                  <a:srgbClr val="1B212C"/>
                </a:solidFill>
                <a:latin typeface="Lucida Sans Unicode"/>
                <a:cs typeface="Lucida Sans Unicode"/>
              </a:rPr>
              <a:t>by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viewing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its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first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few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rows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with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1B212C"/>
                </a:solidFill>
                <a:latin typeface="Lucida Sans Unicode"/>
                <a:cs typeface="Lucida Sans Unicode"/>
              </a:rPr>
              <a:t>`head()`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or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last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rows</a:t>
            </a:r>
            <a:r>
              <a:rPr sz="16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with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75" dirty="0">
                <a:solidFill>
                  <a:srgbClr val="1B212C"/>
                </a:solidFill>
                <a:latin typeface="Lucida Sans Unicode"/>
                <a:cs typeface="Lucida Sans Unicode"/>
              </a:rPr>
              <a:t>`tail()`.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Use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14" dirty="0">
                <a:solidFill>
                  <a:srgbClr val="1B212C"/>
                </a:solidFill>
                <a:latin typeface="Lucida Sans Unicode"/>
                <a:cs typeface="Lucida Sans Unicode"/>
              </a:rPr>
              <a:t>`info()`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to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get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quick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overview of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types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 non-null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counts, which helps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identify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missing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structure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of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your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dataset.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800" spc="-30" dirty="0">
                <a:solidFill>
                  <a:srgbClr val="1B212C"/>
                </a:solidFill>
                <a:latin typeface="Arial Black"/>
                <a:cs typeface="Arial Black"/>
              </a:rPr>
              <a:t>Summarizing</a:t>
            </a:r>
            <a:r>
              <a:rPr sz="1800" spc="-18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1B212C"/>
                </a:solidFill>
                <a:latin typeface="Arial Black"/>
                <a:cs typeface="Arial Black"/>
              </a:rPr>
              <a:t>data</a:t>
            </a:r>
            <a:r>
              <a:rPr sz="1800" spc="-18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85" dirty="0">
                <a:solidFill>
                  <a:srgbClr val="1B212C"/>
                </a:solidFill>
                <a:latin typeface="Arial Black"/>
                <a:cs typeface="Arial Black"/>
              </a:rPr>
              <a:t>with</a:t>
            </a:r>
            <a:r>
              <a:rPr sz="1800" spc="-18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60" dirty="0">
                <a:solidFill>
                  <a:srgbClr val="1B212C"/>
                </a:solidFill>
                <a:latin typeface="Arial Black"/>
                <a:cs typeface="Arial Black"/>
              </a:rPr>
              <a:t>descriptive</a:t>
            </a:r>
            <a:r>
              <a:rPr sz="1800" spc="-18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B212C"/>
                </a:solidFill>
                <a:latin typeface="Arial Black"/>
                <a:cs typeface="Arial Black"/>
              </a:rPr>
              <a:t>statistics</a:t>
            </a:r>
            <a:endParaRPr sz="1800">
              <a:latin typeface="Arial Black"/>
              <a:cs typeface="Arial Black"/>
            </a:endParaRPr>
          </a:p>
          <a:p>
            <a:pPr marL="12700" marR="289560">
              <a:lnSpc>
                <a:spcPct val="114999"/>
              </a:lnSpc>
              <a:spcBef>
                <a:spcPts val="45"/>
              </a:spcBef>
            </a:pPr>
            <a:r>
              <a:rPr sz="1600" spc="90" dirty="0">
                <a:solidFill>
                  <a:srgbClr val="1B212C"/>
                </a:solidFill>
                <a:latin typeface="Lucida Sans Unicode"/>
                <a:cs typeface="Lucida Sans Unicode"/>
              </a:rPr>
              <a:t>Pandas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offers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`describe()`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function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65" dirty="0">
                <a:solidFill>
                  <a:srgbClr val="1B212C"/>
                </a:solidFill>
                <a:latin typeface="Lucida Sans Unicode"/>
                <a:cs typeface="Lucida Sans Unicode"/>
              </a:rPr>
              <a:t>generate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summary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statistics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such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as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mean,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median, </a:t>
            </a:r>
            <a:r>
              <a:rPr sz="16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standard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deviation,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quartiles.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These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insights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reveal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distribution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variability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of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your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data,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essential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understanding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its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characteristics.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800" spc="-80" dirty="0">
                <a:solidFill>
                  <a:srgbClr val="1B212C"/>
                </a:solidFill>
                <a:latin typeface="Arial Black"/>
                <a:cs typeface="Arial Black"/>
              </a:rPr>
              <a:t>Filtering</a:t>
            </a:r>
            <a:r>
              <a:rPr sz="1800" spc="-17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B212C"/>
                </a:solidFill>
                <a:latin typeface="Arial Black"/>
                <a:cs typeface="Arial Black"/>
              </a:rPr>
              <a:t>and</a:t>
            </a:r>
            <a:r>
              <a:rPr sz="1800" spc="-16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1B212C"/>
                </a:solidFill>
                <a:latin typeface="Arial Black"/>
                <a:cs typeface="Arial Black"/>
              </a:rPr>
              <a:t>selecting</a:t>
            </a:r>
            <a:r>
              <a:rPr sz="1800" spc="-16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1B212C"/>
                </a:solidFill>
                <a:latin typeface="Arial Black"/>
                <a:cs typeface="Arial Black"/>
              </a:rPr>
              <a:t>data</a:t>
            </a:r>
            <a:r>
              <a:rPr sz="1800" spc="-16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B212C"/>
                </a:solidFill>
                <a:latin typeface="Arial Black"/>
                <a:cs typeface="Arial Black"/>
              </a:rPr>
              <a:t>subsets</a:t>
            </a:r>
            <a:endParaRPr sz="1800">
              <a:latin typeface="Arial Black"/>
              <a:cs typeface="Arial Black"/>
            </a:endParaRPr>
          </a:p>
          <a:p>
            <a:pPr marL="12700" marR="125730">
              <a:lnSpc>
                <a:spcPct val="114999"/>
              </a:lnSpc>
              <a:spcBef>
                <a:spcPts val="45"/>
              </a:spcBef>
            </a:pP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You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14" dirty="0">
                <a:solidFill>
                  <a:srgbClr val="1B212C"/>
                </a:solidFill>
                <a:latin typeface="Lucida Sans Unicode"/>
                <a:cs typeface="Lucida Sans Unicode"/>
              </a:rPr>
              <a:t>can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filter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80" dirty="0">
                <a:solidFill>
                  <a:srgbClr val="1B212C"/>
                </a:solidFill>
                <a:latin typeface="Lucida Sans Unicode"/>
                <a:cs typeface="Lucida Sans Unicode"/>
              </a:rPr>
              <a:t>based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on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specific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conditions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using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boolean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indexing—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example,</a:t>
            </a:r>
            <a:r>
              <a:rPr sz="16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selecting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rows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where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sales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80" dirty="0">
                <a:solidFill>
                  <a:srgbClr val="1B212C"/>
                </a:solidFill>
                <a:latin typeface="Lucida Sans Unicode"/>
                <a:cs typeface="Lucida Sans Unicode"/>
              </a:rPr>
              <a:t>are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0" dirty="0">
                <a:solidFill>
                  <a:srgbClr val="1B212C"/>
                </a:solidFill>
                <a:latin typeface="Lucida Sans Unicode"/>
                <a:cs typeface="Lucida Sans Unicode"/>
              </a:rPr>
              <a:t>above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certain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threshold.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1B212C"/>
                </a:solidFill>
                <a:latin typeface="Lucida Sans Unicode"/>
                <a:cs typeface="Lucida Sans Unicode"/>
              </a:rPr>
              <a:t>This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functionality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allows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6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targeted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analysis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of</a:t>
            </a:r>
            <a:r>
              <a:rPr sz="16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relevant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segments,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enabling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more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focused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insights.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85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spc="140" dirty="0"/>
              <a:t>Data</a:t>
            </a:r>
            <a:r>
              <a:rPr spc="-85" dirty="0"/>
              <a:t> </a:t>
            </a:r>
            <a:r>
              <a:rPr spc="-10" dirty="0"/>
              <a:t>Visualization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77916" y="1805389"/>
            <a:ext cx="4853305" cy="26314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400" spc="-45" dirty="0">
                <a:solidFill>
                  <a:srgbClr val="1B212C"/>
                </a:solidFill>
                <a:latin typeface="Arial Black"/>
                <a:cs typeface="Arial Black"/>
              </a:rPr>
              <a:t>Importance</a:t>
            </a:r>
            <a:r>
              <a:rPr sz="1400" spc="-12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1B212C"/>
                </a:solidFill>
                <a:latin typeface="Arial Black"/>
                <a:cs typeface="Arial Black"/>
              </a:rPr>
              <a:t>of</a:t>
            </a:r>
            <a:r>
              <a:rPr sz="1400" spc="-114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1B212C"/>
                </a:solidFill>
                <a:latin typeface="Arial Black"/>
                <a:cs typeface="Arial Black"/>
              </a:rPr>
              <a:t>visualizing</a:t>
            </a:r>
            <a:r>
              <a:rPr sz="1400" spc="-12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20" dirty="0">
                <a:solidFill>
                  <a:srgbClr val="1B212C"/>
                </a:solidFill>
                <a:latin typeface="Arial Black"/>
                <a:cs typeface="Arial Black"/>
              </a:rPr>
              <a:t>data</a:t>
            </a:r>
            <a:endParaRPr sz="1400">
              <a:latin typeface="Arial Black"/>
              <a:cs typeface="Arial Black"/>
            </a:endParaRPr>
          </a:p>
          <a:p>
            <a:pPr marL="12700" marR="78105">
              <a:lnSpc>
                <a:spcPct val="114999"/>
              </a:lnSpc>
              <a:spcBef>
                <a:spcPts val="45"/>
              </a:spcBef>
            </a:pP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Visualizations</a:t>
            </a:r>
            <a:r>
              <a:rPr sz="12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60" dirty="0">
                <a:solidFill>
                  <a:srgbClr val="1B212C"/>
                </a:solidFill>
                <a:latin typeface="Lucida Sans Unicode"/>
                <a:cs typeface="Lucida Sans Unicode"/>
              </a:rPr>
              <a:t>are</a:t>
            </a:r>
            <a:r>
              <a:rPr sz="12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vital</a:t>
            </a:r>
            <a:r>
              <a:rPr sz="12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2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communicating</a:t>
            </a:r>
            <a:r>
              <a:rPr sz="12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8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2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insights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effectively.</a:t>
            </a:r>
            <a:r>
              <a:rPr sz="12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They help identify patterns, 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trends,</a:t>
            </a:r>
            <a:r>
              <a:rPr sz="12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outliers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that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might</a:t>
            </a:r>
            <a:r>
              <a:rPr sz="12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be</a:t>
            </a:r>
            <a:r>
              <a:rPr sz="12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hidden</a:t>
            </a:r>
            <a:r>
              <a:rPr sz="12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in</a:t>
            </a:r>
            <a:r>
              <a:rPr sz="12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raw</a:t>
            </a:r>
            <a:r>
              <a:rPr sz="12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data,</a:t>
            </a:r>
            <a:r>
              <a:rPr sz="12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making</a:t>
            </a:r>
            <a:r>
              <a:rPr sz="12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complex</a:t>
            </a:r>
            <a:r>
              <a:rPr sz="12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information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accessible</a:t>
            </a:r>
            <a:r>
              <a:rPr sz="1200" spc="17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200" spc="17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understandable</a:t>
            </a:r>
            <a:r>
              <a:rPr sz="1200" spc="17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200" spc="17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diverse</a:t>
            </a:r>
            <a:r>
              <a:rPr sz="1200" spc="17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audiences.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solidFill>
                  <a:srgbClr val="1B212C"/>
                </a:solidFill>
                <a:latin typeface="Arial Black"/>
                <a:cs typeface="Arial Black"/>
              </a:rPr>
              <a:t>Overview</a:t>
            </a:r>
            <a:r>
              <a:rPr sz="1400" spc="-12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1B212C"/>
                </a:solidFill>
                <a:latin typeface="Arial Black"/>
                <a:cs typeface="Arial Black"/>
              </a:rPr>
              <a:t>of</a:t>
            </a:r>
            <a:r>
              <a:rPr sz="1400" spc="-13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1B212C"/>
                </a:solidFill>
                <a:latin typeface="Arial Black"/>
                <a:cs typeface="Arial Black"/>
              </a:rPr>
              <a:t>Matplotlib</a:t>
            </a:r>
            <a:r>
              <a:rPr sz="1400" spc="-12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1B212C"/>
                </a:solidFill>
                <a:latin typeface="Arial Black"/>
                <a:cs typeface="Arial Black"/>
              </a:rPr>
              <a:t>library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14999"/>
              </a:lnSpc>
              <a:spcBef>
                <a:spcPts val="45"/>
              </a:spcBef>
            </a:pP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Matplotlib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is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14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comprehensive</a:t>
            </a:r>
            <a:r>
              <a:rPr sz="12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plotting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library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in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Python</a:t>
            </a:r>
            <a:r>
              <a:rPr sz="12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that </a:t>
            </a:r>
            <a:r>
              <a:rPr sz="12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supports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14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variety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 of static, </a:t>
            </a:r>
            <a:r>
              <a:rPr sz="12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animated,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interactive visualizations.</a:t>
            </a:r>
            <a:r>
              <a:rPr sz="12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1B212C"/>
                </a:solidFill>
                <a:latin typeface="Lucida Sans Unicode"/>
                <a:cs typeface="Lucida Sans Unicode"/>
              </a:rPr>
              <a:t>It</a:t>
            </a:r>
            <a:r>
              <a:rPr sz="12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allows</a:t>
            </a:r>
            <a:r>
              <a:rPr sz="12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customization</a:t>
            </a:r>
            <a:r>
              <a:rPr sz="12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of</a:t>
            </a:r>
            <a:r>
              <a:rPr sz="12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plot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elements</a:t>
            </a:r>
            <a:r>
              <a:rPr sz="12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2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create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clear,</a:t>
            </a:r>
            <a:r>
              <a:rPr sz="12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professional-quality</a:t>
            </a:r>
            <a:r>
              <a:rPr sz="12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graphics</a:t>
            </a:r>
            <a:r>
              <a:rPr sz="12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that</a:t>
            </a:r>
            <a:r>
              <a:rPr sz="12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60" dirty="0">
                <a:solidFill>
                  <a:srgbClr val="1B212C"/>
                </a:solidFill>
                <a:latin typeface="Lucida Sans Unicode"/>
                <a:cs typeface="Lucida Sans Unicode"/>
              </a:rPr>
              <a:t>enhance</a:t>
            </a:r>
            <a:r>
              <a:rPr sz="12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60" dirty="0">
                <a:solidFill>
                  <a:srgbClr val="1B212C"/>
                </a:solidFill>
                <a:latin typeface="Lucida Sans Unicode"/>
                <a:cs typeface="Lucida Sans Unicode"/>
              </a:rPr>
              <a:t>data 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storytelling.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77916" y="4609549"/>
            <a:ext cx="4822825" cy="11245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50"/>
              </a:spcBef>
            </a:pPr>
            <a:r>
              <a:rPr sz="1400" spc="-30" dirty="0">
                <a:solidFill>
                  <a:srgbClr val="1B212C"/>
                </a:solidFill>
                <a:latin typeface="Arial Black"/>
                <a:cs typeface="Arial Black"/>
              </a:rPr>
              <a:t>Creating</a:t>
            </a:r>
            <a:r>
              <a:rPr sz="1400" spc="-13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1B212C"/>
                </a:solidFill>
                <a:latin typeface="Arial Black"/>
                <a:cs typeface="Arial Black"/>
              </a:rPr>
              <a:t>simple</a:t>
            </a:r>
            <a:r>
              <a:rPr sz="1400" spc="-13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1B212C"/>
                </a:solidFill>
                <a:latin typeface="Arial Black"/>
                <a:cs typeface="Arial Black"/>
              </a:rPr>
              <a:t>plots:</a:t>
            </a:r>
            <a:r>
              <a:rPr sz="1400" spc="-13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1B212C"/>
                </a:solidFill>
                <a:latin typeface="Arial Black"/>
                <a:cs typeface="Arial Black"/>
              </a:rPr>
              <a:t>line,</a:t>
            </a:r>
            <a:r>
              <a:rPr sz="1400" spc="-13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1B212C"/>
                </a:solidFill>
                <a:latin typeface="Arial Black"/>
                <a:cs typeface="Arial Black"/>
              </a:rPr>
              <a:t>bar,</a:t>
            </a:r>
            <a:r>
              <a:rPr sz="1400" spc="-13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1B212C"/>
                </a:solidFill>
                <a:latin typeface="Arial Black"/>
                <a:cs typeface="Arial Black"/>
              </a:rPr>
              <a:t>and</a:t>
            </a:r>
            <a:r>
              <a:rPr sz="1400" spc="-13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1B212C"/>
                </a:solidFill>
                <a:latin typeface="Arial Black"/>
                <a:cs typeface="Arial Black"/>
              </a:rPr>
              <a:t>scatter</a:t>
            </a:r>
            <a:r>
              <a:rPr sz="1400" spc="-13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1B212C"/>
                </a:solidFill>
                <a:latin typeface="Arial Black"/>
                <a:cs typeface="Arial Black"/>
              </a:rPr>
              <a:t>plots </a:t>
            </a:r>
            <a:r>
              <a:rPr sz="12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Basic</a:t>
            </a:r>
            <a:r>
              <a:rPr sz="12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plots</a:t>
            </a:r>
            <a:r>
              <a:rPr sz="12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1B212C"/>
                </a:solidFill>
                <a:latin typeface="Lucida Sans Unicode"/>
                <a:cs typeface="Lucida Sans Unicode"/>
              </a:rPr>
              <a:t>like</a:t>
            </a:r>
            <a:r>
              <a:rPr sz="12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line</a:t>
            </a:r>
            <a:r>
              <a:rPr sz="12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charts,</a:t>
            </a:r>
            <a:r>
              <a:rPr sz="12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bar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graphs,</a:t>
            </a:r>
            <a:r>
              <a:rPr sz="12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2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scatter</a:t>
            </a:r>
            <a:r>
              <a:rPr sz="12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plots</a:t>
            </a:r>
            <a:r>
              <a:rPr sz="12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85" dirty="0">
                <a:solidFill>
                  <a:srgbClr val="1B212C"/>
                </a:solidFill>
                <a:latin typeface="Lucida Sans Unicode"/>
                <a:cs typeface="Lucida Sans Unicode"/>
              </a:rPr>
              <a:t>can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be </a:t>
            </a:r>
            <a:r>
              <a:rPr sz="1200" spc="60" dirty="0">
                <a:solidFill>
                  <a:srgbClr val="1B212C"/>
                </a:solidFill>
                <a:latin typeface="Lucida Sans Unicode"/>
                <a:cs typeface="Lucida Sans Unicode"/>
              </a:rPr>
              <a:t>created</a:t>
            </a:r>
            <a:r>
              <a:rPr sz="12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using</a:t>
            </a:r>
            <a:r>
              <a:rPr sz="12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Matplotlib</a:t>
            </a:r>
            <a:r>
              <a:rPr sz="12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2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visualize</a:t>
            </a:r>
            <a:r>
              <a:rPr sz="12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relationships,</a:t>
            </a:r>
            <a:r>
              <a:rPr sz="12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trends,</a:t>
            </a:r>
            <a:r>
              <a:rPr sz="12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and 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distributions</a:t>
            </a:r>
            <a:r>
              <a:rPr sz="12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in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your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data.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These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simple</a:t>
            </a:r>
            <a:r>
              <a:rPr sz="12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visualizations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serve</a:t>
            </a:r>
            <a:r>
              <a:rPr sz="12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as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200" spc="1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foundation</a:t>
            </a:r>
            <a:r>
              <a:rPr sz="1200" spc="1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for</a:t>
            </a:r>
            <a:r>
              <a:rPr sz="1200" spc="1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more</a:t>
            </a:r>
            <a:r>
              <a:rPr sz="1200" spc="1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complex</a:t>
            </a:r>
            <a:r>
              <a:rPr sz="1200" spc="114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1B212C"/>
                </a:solidFill>
                <a:latin typeface="Lucida Sans Unicode"/>
                <a:cs typeface="Lucida Sans Unicode"/>
              </a:rPr>
              <a:t>analytical</a:t>
            </a:r>
            <a:r>
              <a:rPr sz="1200" spc="1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graphics.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26" name="Picture 2" descr="How to make a pie chart in Excel">
            <a:extLst>
              <a:ext uri="{FF2B5EF4-FFF2-40B4-BE49-F238E27FC236}">
                <a16:creationId xmlns:a16="http://schemas.microsoft.com/office/drawing/2014/main" id="{9BB91E19-CD1C-9906-4508-C11B3EC7F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" y="1811062"/>
            <a:ext cx="5181601" cy="392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2478" y="5215990"/>
            <a:ext cx="1575435" cy="1642110"/>
          </a:xfrm>
          <a:custGeom>
            <a:avLst/>
            <a:gdLst/>
            <a:ahLst/>
            <a:cxnLst/>
            <a:rect l="l" t="t" r="r" b="b"/>
            <a:pathLst>
              <a:path w="1575435" h="1642109">
                <a:moveTo>
                  <a:pt x="1574998" y="1642009"/>
                </a:moveTo>
                <a:lnTo>
                  <a:pt x="0" y="1642009"/>
                </a:lnTo>
                <a:lnTo>
                  <a:pt x="0" y="246282"/>
                </a:lnTo>
                <a:lnTo>
                  <a:pt x="5003" y="196648"/>
                </a:lnTo>
                <a:lnTo>
                  <a:pt x="19354" y="150418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8" y="19354"/>
                </a:lnTo>
                <a:lnTo>
                  <a:pt x="196648" y="5003"/>
                </a:lnTo>
                <a:lnTo>
                  <a:pt x="246282" y="0"/>
                </a:lnTo>
                <a:lnTo>
                  <a:pt x="1328716" y="0"/>
                </a:lnTo>
                <a:lnTo>
                  <a:pt x="1376988" y="4776"/>
                </a:lnTo>
                <a:lnTo>
                  <a:pt x="1422964" y="18747"/>
                </a:lnTo>
                <a:lnTo>
                  <a:pt x="1465354" y="41378"/>
                </a:lnTo>
                <a:lnTo>
                  <a:pt x="1502864" y="72134"/>
                </a:lnTo>
                <a:lnTo>
                  <a:pt x="1533620" y="109644"/>
                </a:lnTo>
                <a:lnTo>
                  <a:pt x="1556251" y="152034"/>
                </a:lnTo>
                <a:lnTo>
                  <a:pt x="1570223" y="198010"/>
                </a:lnTo>
                <a:lnTo>
                  <a:pt x="1574998" y="246282"/>
                </a:lnTo>
                <a:lnTo>
                  <a:pt x="1574998" y="16420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31797" y="5215992"/>
            <a:ext cx="1575435" cy="1575435"/>
          </a:xfrm>
          <a:custGeom>
            <a:avLst/>
            <a:gdLst/>
            <a:ahLst/>
            <a:cxnLst/>
            <a:rect l="l" t="t" r="r" b="b"/>
            <a:pathLst>
              <a:path w="1575435" h="1575434">
                <a:moveTo>
                  <a:pt x="1328717" y="1574993"/>
                </a:moveTo>
                <a:lnTo>
                  <a:pt x="246281" y="1574993"/>
                </a:lnTo>
                <a:lnTo>
                  <a:pt x="196647" y="1569990"/>
                </a:lnTo>
                <a:lnTo>
                  <a:pt x="150417" y="1555639"/>
                </a:lnTo>
                <a:lnTo>
                  <a:pt x="108583" y="1532932"/>
                </a:lnTo>
                <a:lnTo>
                  <a:pt x="72134" y="1502859"/>
                </a:lnTo>
                <a:lnTo>
                  <a:pt x="42061" y="1466410"/>
                </a:lnTo>
                <a:lnTo>
                  <a:pt x="19354" y="1424576"/>
                </a:lnTo>
                <a:lnTo>
                  <a:pt x="5003" y="1378346"/>
                </a:lnTo>
                <a:lnTo>
                  <a:pt x="0" y="1328711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7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1328717" y="0"/>
                </a:lnTo>
                <a:lnTo>
                  <a:pt x="1376988" y="4775"/>
                </a:lnTo>
                <a:lnTo>
                  <a:pt x="1422965" y="18746"/>
                </a:lnTo>
                <a:lnTo>
                  <a:pt x="1465354" y="41378"/>
                </a:lnTo>
                <a:lnTo>
                  <a:pt x="1502864" y="72133"/>
                </a:lnTo>
                <a:lnTo>
                  <a:pt x="1533620" y="109644"/>
                </a:lnTo>
                <a:lnTo>
                  <a:pt x="1556251" y="152033"/>
                </a:lnTo>
                <a:lnTo>
                  <a:pt x="1570223" y="198009"/>
                </a:lnTo>
                <a:lnTo>
                  <a:pt x="1574998" y="246281"/>
                </a:lnTo>
                <a:lnTo>
                  <a:pt x="1574998" y="1328711"/>
                </a:lnTo>
                <a:lnTo>
                  <a:pt x="1569995" y="1378346"/>
                </a:lnTo>
                <a:lnTo>
                  <a:pt x="1555644" y="1424576"/>
                </a:lnTo>
                <a:lnTo>
                  <a:pt x="1532937" y="1466410"/>
                </a:lnTo>
                <a:lnTo>
                  <a:pt x="1502864" y="1502859"/>
                </a:lnTo>
                <a:lnTo>
                  <a:pt x="1466415" y="1532932"/>
                </a:lnTo>
                <a:lnTo>
                  <a:pt x="1424581" y="1555639"/>
                </a:lnTo>
                <a:lnTo>
                  <a:pt x="1378351" y="1569990"/>
                </a:lnTo>
                <a:lnTo>
                  <a:pt x="1328717" y="1574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53159" y="6062857"/>
            <a:ext cx="709930" cy="711200"/>
          </a:xfrm>
          <a:custGeom>
            <a:avLst/>
            <a:gdLst/>
            <a:ahLst/>
            <a:cxnLst/>
            <a:rect l="l" t="t" r="r" b="b"/>
            <a:pathLst>
              <a:path w="709929" h="711200">
                <a:moveTo>
                  <a:pt x="452962" y="711181"/>
                </a:moveTo>
                <a:lnTo>
                  <a:pt x="256631" y="711181"/>
                </a:lnTo>
                <a:lnTo>
                  <a:pt x="210501" y="707047"/>
                </a:lnTo>
                <a:lnTo>
                  <a:pt x="167084" y="695126"/>
                </a:lnTo>
                <a:lnTo>
                  <a:pt x="127104" y="676144"/>
                </a:lnTo>
                <a:lnTo>
                  <a:pt x="91287" y="650825"/>
                </a:lnTo>
                <a:lnTo>
                  <a:pt x="60356" y="619895"/>
                </a:lnTo>
                <a:lnTo>
                  <a:pt x="35037" y="584077"/>
                </a:lnTo>
                <a:lnTo>
                  <a:pt x="16055" y="544097"/>
                </a:lnTo>
                <a:lnTo>
                  <a:pt x="4134" y="500680"/>
                </a:lnTo>
                <a:lnTo>
                  <a:pt x="0" y="454550"/>
                </a:lnTo>
                <a:lnTo>
                  <a:pt x="0" y="256631"/>
                </a:lnTo>
                <a:lnTo>
                  <a:pt x="4134" y="210501"/>
                </a:lnTo>
                <a:lnTo>
                  <a:pt x="16055" y="167084"/>
                </a:lnTo>
                <a:lnTo>
                  <a:pt x="35037" y="127104"/>
                </a:lnTo>
                <a:lnTo>
                  <a:pt x="60356" y="91287"/>
                </a:lnTo>
                <a:lnTo>
                  <a:pt x="91287" y="60356"/>
                </a:lnTo>
                <a:lnTo>
                  <a:pt x="127104" y="35037"/>
                </a:lnTo>
                <a:lnTo>
                  <a:pt x="167084" y="16055"/>
                </a:lnTo>
                <a:lnTo>
                  <a:pt x="210501" y="4134"/>
                </a:lnTo>
                <a:lnTo>
                  <a:pt x="256631" y="0"/>
                </a:lnTo>
                <a:lnTo>
                  <a:pt x="452962" y="0"/>
                </a:lnTo>
                <a:lnTo>
                  <a:pt x="503262" y="4976"/>
                </a:lnTo>
                <a:lnTo>
                  <a:pt x="551170" y="19534"/>
                </a:lnTo>
                <a:lnTo>
                  <a:pt x="595341" y="43117"/>
                </a:lnTo>
                <a:lnTo>
                  <a:pt x="634428" y="75165"/>
                </a:lnTo>
                <a:lnTo>
                  <a:pt x="666476" y="114252"/>
                </a:lnTo>
                <a:lnTo>
                  <a:pt x="690059" y="158422"/>
                </a:lnTo>
                <a:lnTo>
                  <a:pt x="704617" y="206331"/>
                </a:lnTo>
                <a:lnTo>
                  <a:pt x="709593" y="256631"/>
                </a:lnTo>
                <a:lnTo>
                  <a:pt x="709593" y="454550"/>
                </a:lnTo>
                <a:lnTo>
                  <a:pt x="705459" y="500680"/>
                </a:lnTo>
                <a:lnTo>
                  <a:pt x="693538" y="544097"/>
                </a:lnTo>
                <a:lnTo>
                  <a:pt x="674556" y="584077"/>
                </a:lnTo>
                <a:lnTo>
                  <a:pt x="649237" y="619895"/>
                </a:lnTo>
                <a:lnTo>
                  <a:pt x="618306" y="650825"/>
                </a:lnTo>
                <a:lnTo>
                  <a:pt x="582489" y="676144"/>
                </a:lnTo>
                <a:lnTo>
                  <a:pt x="542509" y="695126"/>
                </a:lnTo>
                <a:lnTo>
                  <a:pt x="499092" y="707047"/>
                </a:lnTo>
                <a:lnTo>
                  <a:pt x="452962" y="711181"/>
                </a:lnTo>
                <a:close/>
              </a:path>
            </a:pathLst>
          </a:custGeom>
          <a:solidFill>
            <a:srgbClr val="FACE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06776" y="6062857"/>
            <a:ext cx="3303904" cy="711200"/>
          </a:xfrm>
          <a:custGeom>
            <a:avLst/>
            <a:gdLst/>
            <a:ahLst/>
            <a:cxnLst/>
            <a:rect l="l" t="t" r="r" b="b"/>
            <a:pathLst>
              <a:path w="3303904" h="711200">
                <a:moveTo>
                  <a:pt x="3046616" y="711181"/>
                </a:moveTo>
                <a:lnTo>
                  <a:pt x="257205" y="711181"/>
                </a:lnTo>
                <a:lnTo>
                  <a:pt x="210972" y="707038"/>
                </a:lnTo>
                <a:lnTo>
                  <a:pt x="167458" y="695090"/>
                </a:lnTo>
                <a:lnTo>
                  <a:pt x="127389" y="676065"/>
                </a:lnTo>
                <a:lnTo>
                  <a:pt x="91491" y="650690"/>
                </a:lnTo>
                <a:lnTo>
                  <a:pt x="60491" y="619690"/>
                </a:lnTo>
                <a:lnTo>
                  <a:pt x="35116" y="583792"/>
                </a:lnTo>
                <a:lnTo>
                  <a:pt x="16091" y="543723"/>
                </a:lnTo>
                <a:lnTo>
                  <a:pt x="4143" y="500208"/>
                </a:lnTo>
                <a:lnTo>
                  <a:pt x="0" y="453975"/>
                </a:lnTo>
                <a:lnTo>
                  <a:pt x="0" y="257205"/>
                </a:lnTo>
                <a:lnTo>
                  <a:pt x="4143" y="210972"/>
                </a:lnTo>
                <a:lnTo>
                  <a:pt x="16091" y="167458"/>
                </a:lnTo>
                <a:lnTo>
                  <a:pt x="35116" y="127389"/>
                </a:lnTo>
                <a:lnTo>
                  <a:pt x="60491" y="91491"/>
                </a:lnTo>
                <a:lnTo>
                  <a:pt x="91491" y="60491"/>
                </a:lnTo>
                <a:lnTo>
                  <a:pt x="127389" y="35116"/>
                </a:lnTo>
                <a:lnTo>
                  <a:pt x="167458" y="16091"/>
                </a:lnTo>
                <a:lnTo>
                  <a:pt x="210972" y="4143"/>
                </a:lnTo>
                <a:lnTo>
                  <a:pt x="257205" y="0"/>
                </a:lnTo>
                <a:lnTo>
                  <a:pt x="3046616" y="0"/>
                </a:lnTo>
                <a:lnTo>
                  <a:pt x="3097029" y="4987"/>
                </a:lnTo>
                <a:lnTo>
                  <a:pt x="3145045" y="19578"/>
                </a:lnTo>
                <a:lnTo>
                  <a:pt x="3189314" y="43213"/>
                </a:lnTo>
                <a:lnTo>
                  <a:pt x="3228488" y="75333"/>
                </a:lnTo>
                <a:lnTo>
                  <a:pt x="3260609" y="114508"/>
                </a:lnTo>
                <a:lnTo>
                  <a:pt x="3284244" y="158777"/>
                </a:lnTo>
                <a:lnTo>
                  <a:pt x="3298835" y="206793"/>
                </a:lnTo>
                <a:lnTo>
                  <a:pt x="3303822" y="257205"/>
                </a:lnTo>
                <a:lnTo>
                  <a:pt x="3303822" y="453975"/>
                </a:lnTo>
                <a:lnTo>
                  <a:pt x="3299679" y="500208"/>
                </a:lnTo>
                <a:lnTo>
                  <a:pt x="3287731" y="543723"/>
                </a:lnTo>
                <a:lnTo>
                  <a:pt x="3268706" y="583792"/>
                </a:lnTo>
                <a:lnTo>
                  <a:pt x="3243331" y="619690"/>
                </a:lnTo>
                <a:lnTo>
                  <a:pt x="3212331" y="650690"/>
                </a:lnTo>
                <a:lnTo>
                  <a:pt x="3176433" y="676065"/>
                </a:lnTo>
                <a:lnTo>
                  <a:pt x="3136364" y="695090"/>
                </a:lnTo>
                <a:lnTo>
                  <a:pt x="3092849" y="707038"/>
                </a:lnTo>
                <a:lnTo>
                  <a:pt x="3046616" y="7111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352180"/>
            <a:ext cx="888365" cy="1575435"/>
          </a:xfrm>
          <a:custGeom>
            <a:avLst/>
            <a:gdLst/>
            <a:ahLst/>
            <a:cxnLst/>
            <a:rect l="l" t="t" r="r" b="b"/>
            <a:pathLst>
              <a:path w="888365" h="1575435">
                <a:moveTo>
                  <a:pt x="641493" y="1574993"/>
                </a:moveTo>
                <a:lnTo>
                  <a:pt x="0" y="1574993"/>
                </a:lnTo>
                <a:lnTo>
                  <a:pt x="0" y="0"/>
                </a:lnTo>
                <a:lnTo>
                  <a:pt x="641493" y="0"/>
                </a:lnTo>
                <a:lnTo>
                  <a:pt x="689764" y="4775"/>
                </a:lnTo>
                <a:lnTo>
                  <a:pt x="735741" y="18747"/>
                </a:lnTo>
                <a:lnTo>
                  <a:pt x="778130" y="41378"/>
                </a:lnTo>
                <a:lnTo>
                  <a:pt x="815640" y="72134"/>
                </a:lnTo>
                <a:lnTo>
                  <a:pt x="846396" y="109644"/>
                </a:lnTo>
                <a:lnTo>
                  <a:pt x="869027" y="152033"/>
                </a:lnTo>
                <a:lnTo>
                  <a:pt x="882999" y="198010"/>
                </a:lnTo>
                <a:lnTo>
                  <a:pt x="887774" y="246281"/>
                </a:lnTo>
                <a:lnTo>
                  <a:pt x="887774" y="1328712"/>
                </a:lnTo>
                <a:lnTo>
                  <a:pt x="882771" y="1378346"/>
                </a:lnTo>
                <a:lnTo>
                  <a:pt x="868420" y="1424576"/>
                </a:lnTo>
                <a:lnTo>
                  <a:pt x="845713" y="1466410"/>
                </a:lnTo>
                <a:lnTo>
                  <a:pt x="815640" y="1502859"/>
                </a:lnTo>
                <a:lnTo>
                  <a:pt x="779191" y="1532932"/>
                </a:lnTo>
                <a:lnTo>
                  <a:pt x="737357" y="1555639"/>
                </a:lnTo>
                <a:lnTo>
                  <a:pt x="691127" y="1569990"/>
                </a:lnTo>
                <a:lnTo>
                  <a:pt x="641493" y="1574993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1825625"/>
            <a:ext cx="6096000" cy="4948555"/>
            <a:chOff x="0" y="1825625"/>
            <a:chExt cx="6096000" cy="4948555"/>
          </a:xfrm>
        </p:grpSpPr>
        <p:sp>
          <p:nvSpPr>
            <p:cNvPr id="8" name="object 8"/>
            <p:cNvSpPr/>
            <p:nvPr/>
          </p:nvSpPr>
          <p:spPr>
            <a:xfrm>
              <a:off x="0" y="6062856"/>
              <a:ext cx="892175" cy="711200"/>
            </a:xfrm>
            <a:custGeom>
              <a:avLst/>
              <a:gdLst/>
              <a:ahLst/>
              <a:cxnLst/>
              <a:rect l="l" t="t" r="r" b="b"/>
              <a:pathLst>
                <a:path w="892175" h="711200">
                  <a:moveTo>
                    <a:pt x="634738" y="711181"/>
                  </a:moveTo>
                  <a:lnTo>
                    <a:pt x="0" y="711181"/>
                  </a:lnTo>
                  <a:lnTo>
                    <a:pt x="0" y="0"/>
                  </a:lnTo>
                  <a:lnTo>
                    <a:pt x="634738" y="0"/>
                  </a:lnTo>
                  <a:lnTo>
                    <a:pt x="685151" y="4987"/>
                  </a:lnTo>
                  <a:lnTo>
                    <a:pt x="733167" y="19578"/>
                  </a:lnTo>
                  <a:lnTo>
                    <a:pt x="777436" y="43213"/>
                  </a:lnTo>
                  <a:lnTo>
                    <a:pt x="816611" y="75333"/>
                  </a:lnTo>
                  <a:lnTo>
                    <a:pt x="848731" y="114508"/>
                  </a:lnTo>
                  <a:lnTo>
                    <a:pt x="872366" y="158777"/>
                  </a:lnTo>
                  <a:lnTo>
                    <a:pt x="886957" y="206793"/>
                  </a:lnTo>
                  <a:lnTo>
                    <a:pt x="891944" y="257205"/>
                  </a:lnTo>
                  <a:lnTo>
                    <a:pt x="891944" y="453975"/>
                  </a:lnTo>
                  <a:lnTo>
                    <a:pt x="887801" y="500208"/>
                  </a:lnTo>
                  <a:lnTo>
                    <a:pt x="875853" y="543723"/>
                  </a:lnTo>
                  <a:lnTo>
                    <a:pt x="856828" y="583792"/>
                  </a:lnTo>
                  <a:lnTo>
                    <a:pt x="831453" y="619690"/>
                  </a:lnTo>
                  <a:lnTo>
                    <a:pt x="800453" y="650690"/>
                  </a:lnTo>
                  <a:lnTo>
                    <a:pt x="764555" y="676065"/>
                  </a:lnTo>
                  <a:lnTo>
                    <a:pt x="724486" y="695090"/>
                  </a:lnTo>
                  <a:lnTo>
                    <a:pt x="680972" y="707038"/>
                  </a:lnTo>
                  <a:lnTo>
                    <a:pt x="634738" y="711181"/>
                  </a:lnTo>
                  <a:close/>
                </a:path>
              </a:pathLst>
            </a:custGeom>
            <a:solidFill>
              <a:srgbClr val="EEF3DB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825625"/>
              <a:ext cx="5257800" cy="435133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Visualizing</a:t>
            </a:r>
            <a:r>
              <a:rPr spc="-180" dirty="0"/>
              <a:t> </a:t>
            </a:r>
            <a:r>
              <a:rPr spc="140" dirty="0"/>
              <a:t>Data</a:t>
            </a:r>
            <a:r>
              <a:rPr spc="-175" dirty="0"/>
              <a:t> </a:t>
            </a:r>
            <a:r>
              <a:rPr dirty="0"/>
              <a:t>with</a:t>
            </a:r>
            <a:r>
              <a:rPr spc="-175" dirty="0"/>
              <a:t> </a:t>
            </a:r>
            <a:r>
              <a:rPr spc="-10" dirty="0"/>
              <a:t>Matplotlib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77916" y="1802667"/>
            <a:ext cx="4864735" cy="401637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120650">
              <a:lnSpc>
                <a:spcPct val="115100"/>
              </a:lnSpc>
              <a:spcBef>
                <a:spcPts val="145"/>
              </a:spcBef>
            </a:pPr>
            <a:r>
              <a:rPr sz="1500" spc="-90" dirty="0">
                <a:solidFill>
                  <a:srgbClr val="1B212C"/>
                </a:solidFill>
                <a:latin typeface="Arial Black"/>
                <a:cs typeface="Arial Black"/>
              </a:rPr>
              <a:t>Plot</a:t>
            </a:r>
            <a:r>
              <a:rPr sz="1500" spc="-13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spc="-50" dirty="0">
                <a:solidFill>
                  <a:srgbClr val="1B212C"/>
                </a:solidFill>
                <a:latin typeface="Arial Black"/>
                <a:cs typeface="Arial Black"/>
              </a:rPr>
              <a:t>customization:</a:t>
            </a:r>
            <a:r>
              <a:rPr sz="1500" spc="-13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spc="-75" dirty="0">
                <a:solidFill>
                  <a:srgbClr val="1B212C"/>
                </a:solidFill>
                <a:latin typeface="Arial Black"/>
                <a:cs typeface="Arial Black"/>
              </a:rPr>
              <a:t>titles,</a:t>
            </a:r>
            <a:r>
              <a:rPr sz="1500" spc="-13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spc="-55" dirty="0">
                <a:solidFill>
                  <a:srgbClr val="1B212C"/>
                </a:solidFill>
                <a:latin typeface="Arial Black"/>
                <a:cs typeface="Arial Black"/>
              </a:rPr>
              <a:t>labels,</a:t>
            </a:r>
            <a:r>
              <a:rPr sz="1500" spc="-13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dirty="0">
                <a:solidFill>
                  <a:srgbClr val="1B212C"/>
                </a:solidFill>
                <a:latin typeface="Arial Black"/>
                <a:cs typeface="Arial Black"/>
              </a:rPr>
              <a:t>and</a:t>
            </a:r>
            <a:r>
              <a:rPr sz="1500" spc="-13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1B212C"/>
                </a:solidFill>
                <a:latin typeface="Arial Black"/>
                <a:cs typeface="Arial Black"/>
              </a:rPr>
              <a:t>legends </a:t>
            </a:r>
            <a:r>
              <a:rPr sz="13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Enhance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 your</a:t>
            </a:r>
            <a:r>
              <a:rPr sz="13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visualizations</a:t>
            </a:r>
            <a:r>
              <a:rPr sz="13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by</a:t>
            </a:r>
            <a:r>
              <a:rPr sz="13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adding</a:t>
            </a:r>
            <a:r>
              <a:rPr sz="13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descriptive</a:t>
            </a:r>
            <a:r>
              <a:rPr sz="1300" spc="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titles, axis</a:t>
            </a:r>
            <a:r>
              <a:rPr sz="13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labels,</a:t>
            </a:r>
            <a:r>
              <a:rPr sz="13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3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legends.</a:t>
            </a:r>
            <a:r>
              <a:rPr sz="13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Customization</a:t>
            </a:r>
            <a:r>
              <a:rPr sz="13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improves</a:t>
            </a:r>
            <a:r>
              <a:rPr sz="13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clarity, 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helps</a:t>
            </a:r>
            <a:r>
              <a:rPr sz="13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viewers</a:t>
            </a:r>
            <a:r>
              <a:rPr sz="13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understand</a:t>
            </a:r>
            <a:r>
              <a:rPr sz="13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 what </a:t>
            </a:r>
            <a:r>
              <a:rPr sz="1300" spc="90" dirty="0">
                <a:solidFill>
                  <a:srgbClr val="1B212C"/>
                </a:solidFill>
                <a:latin typeface="Lucida Sans Unicode"/>
                <a:cs typeface="Lucida Sans Unicode"/>
              </a:rPr>
              <a:t>each</a:t>
            </a:r>
            <a:r>
              <a:rPr sz="13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element</a:t>
            </a:r>
            <a:r>
              <a:rPr sz="13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represents, </a:t>
            </a:r>
            <a:r>
              <a:rPr sz="13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3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makes</a:t>
            </a:r>
            <a:r>
              <a:rPr sz="13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your</a:t>
            </a:r>
            <a:r>
              <a:rPr sz="13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plots</a:t>
            </a:r>
            <a:r>
              <a:rPr sz="13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more</a:t>
            </a:r>
            <a:r>
              <a:rPr sz="13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professional.</a:t>
            </a:r>
            <a:endParaRPr sz="13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500" spc="-40" dirty="0">
                <a:solidFill>
                  <a:srgbClr val="1B212C"/>
                </a:solidFill>
                <a:latin typeface="Arial Black"/>
                <a:cs typeface="Arial Black"/>
              </a:rPr>
              <a:t>Adjusting</a:t>
            </a:r>
            <a:r>
              <a:rPr sz="1500" spc="-15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spc="-45" dirty="0">
                <a:solidFill>
                  <a:srgbClr val="1B212C"/>
                </a:solidFill>
                <a:latin typeface="Arial Black"/>
                <a:cs typeface="Arial Black"/>
              </a:rPr>
              <a:t>plot</a:t>
            </a:r>
            <a:r>
              <a:rPr sz="1500" spc="-15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spc="-65" dirty="0">
                <a:solidFill>
                  <a:srgbClr val="1B212C"/>
                </a:solidFill>
                <a:latin typeface="Arial Black"/>
                <a:cs typeface="Arial Black"/>
              </a:rPr>
              <a:t>styles</a:t>
            </a:r>
            <a:r>
              <a:rPr sz="1500" spc="-14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dirty="0">
                <a:solidFill>
                  <a:srgbClr val="1B212C"/>
                </a:solidFill>
                <a:latin typeface="Arial Black"/>
                <a:cs typeface="Arial Black"/>
              </a:rPr>
              <a:t>and</a:t>
            </a:r>
            <a:r>
              <a:rPr sz="1500" spc="-15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1B212C"/>
                </a:solidFill>
                <a:latin typeface="Arial Black"/>
                <a:cs typeface="Arial Black"/>
              </a:rPr>
              <a:t>colors</a:t>
            </a:r>
            <a:endParaRPr sz="1500">
              <a:latin typeface="Arial Black"/>
              <a:cs typeface="Arial Black"/>
            </a:endParaRPr>
          </a:p>
          <a:p>
            <a:pPr marL="12700" marR="5080">
              <a:lnSpc>
                <a:spcPct val="114999"/>
              </a:lnSpc>
              <a:spcBef>
                <a:spcPts val="45"/>
              </a:spcBef>
            </a:pP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Matplotlib</a:t>
            </a:r>
            <a:r>
              <a:rPr sz="13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offers</a:t>
            </a:r>
            <a:r>
              <a:rPr sz="13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numerous</a:t>
            </a:r>
            <a:r>
              <a:rPr sz="13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style</a:t>
            </a:r>
            <a:r>
              <a:rPr sz="13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options</a:t>
            </a:r>
            <a:r>
              <a:rPr sz="13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3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color </a:t>
            </a:r>
            <a:r>
              <a:rPr sz="1300" spc="60" dirty="0">
                <a:solidFill>
                  <a:srgbClr val="1B212C"/>
                </a:solidFill>
                <a:latin typeface="Lucida Sans Unicode"/>
                <a:cs typeface="Lucida Sans Unicode"/>
              </a:rPr>
              <a:t>schemes</a:t>
            </a:r>
            <a:r>
              <a:rPr sz="1300" spc="3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3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improve</a:t>
            </a:r>
            <a:r>
              <a:rPr sz="13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aesthetic</a:t>
            </a:r>
            <a:r>
              <a:rPr sz="13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appeal.</a:t>
            </a:r>
            <a:r>
              <a:rPr sz="13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You</a:t>
            </a:r>
            <a:r>
              <a:rPr sz="13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can</a:t>
            </a:r>
            <a:r>
              <a:rPr sz="13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modify</a:t>
            </a:r>
            <a:r>
              <a:rPr sz="1300" spc="3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line 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styles,</a:t>
            </a:r>
            <a:r>
              <a:rPr sz="13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marker</a:t>
            </a:r>
            <a:r>
              <a:rPr sz="13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types,</a:t>
            </a:r>
            <a:r>
              <a:rPr sz="13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colors,</a:t>
            </a:r>
            <a:r>
              <a:rPr sz="13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3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background</a:t>
            </a:r>
            <a:r>
              <a:rPr sz="13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styles</a:t>
            </a:r>
            <a:r>
              <a:rPr sz="13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to </a:t>
            </a:r>
            <a:r>
              <a:rPr sz="13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match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3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context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or</a:t>
            </a:r>
            <a:r>
              <a:rPr sz="13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branding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of</a:t>
            </a:r>
            <a:r>
              <a:rPr sz="1300" spc="-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your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presentation.</a:t>
            </a:r>
            <a:endParaRPr sz="13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500" spc="-35" dirty="0">
                <a:solidFill>
                  <a:srgbClr val="1B212C"/>
                </a:solidFill>
                <a:latin typeface="Arial Black"/>
                <a:cs typeface="Arial Black"/>
              </a:rPr>
              <a:t>Saving</a:t>
            </a:r>
            <a:r>
              <a:rPr sz="1500" spc="-14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spc="-50" dirty="0">
                <a:solidFill>
                  <a:srgbClr val="1B212C"/>
                </a:solidFill>
                <a:latin typeface="Arial Black"/>
                <a:cs typeface="Arial Black"/>
              </a:rPr>
              <a:t>visualizations</a:t>
            </a:r>
            <a:r>
              <a:rPr sz="1500" spc="-13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spc="-35" dirty="0">
                <a:solidFill>
                  <a:srgbClr val="1B212C"/>
                </a:solidFill>
                <a:latin typeface="Arial Black"/>
                <a:cs typeface="Arial Black"/>
              </a:rPr>
              <a:t>as</a:t>
            </a:r>
            <a:r>
              <a:rPr sz="1500" spc="-13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1B212C"/>
                </a:solidFill>
                <a:latin typeface="Arial Black"/>
                <a:cs typeface="Arial Black"/>
              </a:rPr>
              <a:t>image</a:t>
            </a:r>
            <a:r>
              <a:rPr sz="1500" spc="-13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1B212C"/>
                </a:solidFill>
                <a:latin typeface="Arial Black"/>
                <a:cs typeface="Arial Black"/>
              </a:rPr>
              <a:t>files</a:t>
            </a:r>
            <a:endParaRPr sz="1500">
              <a:latin typeface="Arial Black"/>
              <a:cs typeface="Arial Black"/>
            </a:endParaRPr>
          </a:p>
          <a:p>
            <a:pPr marL="12700" marR="43180">
              <a:lnSpc>
                <a:spcPct val="114999"/>
              </a:lnSpc>
              <a:spcBef>
                <a:spcPts val="45"/>
              </a:spcBef>
            </a:pPr>
            <a:r>
              <a:rPr sz="13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Once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your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plot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is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ready,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you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can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save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1B212C"/>
                </a:solidFill>
                <a:latin typeface="Lucida Sans Unicode"/>
                <a:cs typeface="Lucida Sans Unicode"/>
              </a:rPr>
              <a:t>it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85" dirty="0">
                <a:solidFill>
                  <a:srgbClr val="1B212C"/>
                </a:solidFill>
                <a:latin typeface="Lucida Sans Unicode"/>
                <a:cs typeface="Lucida Sans Unicode"/>
              </a:rPr>
              <a:t>as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90" dirty="0">
                <a:solidFill>
                  <a:srgbClr val="1B212C"/>
                </a:solidFill>
                <a:latin typeface="Lucida Sans Unicode"/>
                <a:cs typeface="Lucida Sans Unicode"/>
              </a:rPr>
              <a:t>an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image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file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in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formats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like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PNG,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60" dirty="0">
                <a:solidFill>
                  <a:srgbClr val="1B212C"/>
                </a:solidFill>
                <a:latin typeface="Lucida Sans Unicode"/>
                <a:cs typeface="Lucida Sans Unicode"/>
              </a:rPr>
              <a:t>JPG,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or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SVG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using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1B212C"/>
                </a:solidFill>
                <a:latin typeface="Lucida Sans Unicode"/>
                <a:cs typeface="Lucida Sans Unicode"/>
              </a:rPr>
              <a:t>`savefig()`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 function. </a:t>
            </a:r>
            <a:r>
              <a:rPr sz="1300" spc="-50" dirty="0">
                <a:solidFill>
                  <a:srgbClr val="1B212C"/>
                </a:solidFill>
                <a:latin typeface="Lucida Sans Unicode"/>
                <a:cs typeface="Lucida Sans Unicode"/>
              </a:rPr>
              <a:t>This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allows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you</a:t>
            </a:r>
            <a:r>
              <a:rPr sz="13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include</a:t>
            </a:r>
            <a:r>
              <a:rPr sz="13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visualizations</a:t>
            </a:r>
            <a:r>
              <a:rPr sz="1300" spc="1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in</a:t>
            </a:r>
            <a:r>
              <a:rPr sz="1300" spc="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reports,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presentations,</a:t>
            </a:r>
            <a:r>
              <a:rPr sz="1300" spc="6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or</a:t>
            </a:r>
            <a:r>
              <a:rPr sz="13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share</a:t>
            </a:r>
            <a:r>
              <a:rPr sz="13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1B212C"/>
                </a:solidFill>
                <a:latin typeface="Lucida Sans Unicode"/>
                <a:cs typeface="Lucida Sans Unicode"/>
              </a:rPr>
              <a:t>them</a:t>
            </a:r>
            <a:r>
              <a:rPr sz="1300" spc="7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easily.</a:t>
            </a:r>
            <a:endParaRPr sz="1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85203" y="6062857"/>
            <a:ext cx="1575435" cy="795655"/>
          </a:xfrm>
          <a:custGeom>
            <a:avLst/>
            <a:gdLst/>
            <a:ahLst/>
            <a:cxnLst/>
            <a:rect l="l" t="t" r="r" b="b"/>
            <a:pathLst>
              <a:path w="1575434" h="795654">
                <a:moveTo>
                  <a:pt x="1574999" y="795143"/>
                </a:moveTo>
                <a:lnTo>
                  <a:pt x="0" y="795143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8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1328716" y="0"/>
                </a:lnTo>
                <a:lnTo>
                  <a:pt x="1376988" y="4775"/>
                </a:lnTo>
                <a:lnTo>
                  <a:pt x="1422965" y="18747"/>
                </a:lnTo>
                <a:lnTo>
                  <a:pt x="1465354" y="41378"/>
                </a:lnTo>
                <a:lnTo>
                  <a:pt x="1502864" y="72134"/>
                </a:lnTo>
                <a:lnTo>
                  <a:pt x="1533621" y="109644"/>
                </a:lnTo>
                <a:lnTo>
                  <a:pt x="1556252" y="152033"/>
                </a:lnTo>
                <a:lnTo>
                  <a:pt x="1570223" y="198010"/>
                </a:lnTo>
                <a:lnTo>
                  <a:pt x="1574999" y="246281"/>
                </a:lnTo>
                <a:lnTo>
                  <a:pt x="1574999" y="795143"/>
                </a:lnTo>
                <a:close/>
              </a:path>
            </a:pathLst>
          </a:custGeom>
          <a:solidFill>
            <a:srgbClr val="D8E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36479" y="5215992"/>
            <a:ext cx="2423795" cy="711200"/>
          </a:xfrm>
          <a:custGeom>
            <a:avLst/>
            <a:gdLst/>
            <a:ahLst/>
            <a:cxnLst/>
            <a:rect l="l" t="t" r="r" b="b"/>
            <a:pathLst>
              <a:path w="2423795" h="711200">
                <a:moveTo>
                  <a:pt x="2166515" y="711181"/>
                </a:moveTo>
                <a:lnTo>
                  <a:pt x="257205" y="711181"/>
                </a:lnTo>
                <a:lnTo>
                  <a:pt x="210972" y="707037"/>
                </a:lnTo>
                <a:lnTo>
                  <a:pt x="167458" y="695090"/>
                </a:lnTo>
                <a:lnTo>
                  <a:pt x="127389" y="676065"/>
                </a:lnTo>
                <a:lnTo>
                  <a:pt x="91491" y="650689"/>
                </a:lnTo>
                <a:lnTo>
                  <a:pt x="60491" y="619690"/>
                </a:lnTo>
                <a:lnTo>
                  <a:pt x="35116" y="583792"/>
                </a:lnTo>
                <a:lnTo>
                  <a:pt x="16091" y="543723"/>
                </a:lnTo>
                <a:lnTo>
                  <a:pt x="4143" y="500208"/>
                </a:lnTo>
                <a:lnTo>
                  <a:pt x="0" y="453975"/>
                </a:lnTo>
                <a:lnTo>
                  <a:pt x="0" y="257205"/>
                </a:lnTo>
                <a:lnTo>
                  <a:pt x="4143" y="210972"/>
                </a:lnTo>
                <a:lnTo>
                  <a:pt x="16091" y="167458"/>
                </a:lnTo>
                <a:lnTo>
                  <a:pt x="35116" y="127389"/>
                </a:lnTo>
                <a:lnTo>
                  <a:pt x="60491" y="91491"/>
                </a:lnTo>
                <a:lnTo>
                  <a:pt x="91491" y="60491"/>
                </a:lnTo>
                <a:lnTo>
                  <a:pt x="127389" y="35116"/>
                </a:lnTo>
                <a:lnTo>
                  <a:pt x="167458" y="16091"/>
                </a:lnTo>
                <a:lnTo>
                  <a:pt x="210972" y="4143"/>
                </a:lnTo>
                <a:lnTo>
                  <a:pt x="257205" y="0"/>
                </a:lnTo>
                <a:lnTo>
                  <a:pt x="2166515" y="0"/>
                </a:lnTo>
                <a:lnTo>
                  <a:pt x="2216928" y="4987"/>
                </a:lnTo>
                <a:lnTo>
                  <a:pt x="2264944" y="19578"/>
                </a:lnTo>
                <a:lnTo>
                  <a:pt x="2309213" y="43213"/>
                </a:lnTo>
                <a:lnTo>
                  <a:pt x="2348387" y="75333"/>
                </a:lnTo>
                <a:lnTo>
                  <a:pt x="2380508" y="114507"/>
                </a:lnTo>
                <a:lnTo>
                  <a:pt x="2404143" y="158777"/>
                </a:lnTo>
                <a:lnTo>
                  <a:pt x="2418734" y="206793"/>
                </a:lnTo>
                <a:lnTo>
                  <a:pt x="2423722" y="257205"/>
                </a:lnTo>
                <a:lnTo>
                  <a:pt x="2423722" y="453975"/>
                </a:lnTo>
                <a:lnTo>
                  <a:pt x="2419578" y="500208"/>
                </a:lnTo>
                <a:lnTo>
                  <a:pt x="2407630" y="543723"/>
                </a:lnTo>
                <a:lnTo>
                  <a:pt x="2388606" y="583792"/>
                </a:lnTo>
                <a:lnTo>
                  <a:pt x="2363230" y="619690"/>
                </a:lnTo>
                <a:lnTo>
                  <a:pt x="2332230" y="650689"/>
                </a:lnTo>
                <a:lnTo>
                  <a:pt x="2296332" y="676065"/>
                </a:lnTo>
                <a:lnTo>
                  <a:pt x="2256263" y="695090"/>
                </a:lnTo>
                <a:lnTo>
                  <a:pt x="2212749" y="707037"/>
                </a:lnTo>
                <a:lnTo>
                  <a:pt x="2166515" y="711181"/>
                </a:lnTo>
                <a:close/>
              </a:path>
            </a:pathLst>
          </a:custGeom>
          <a:solidFill>
            <a:srgbClr val="FFFFFF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304224" y="4352180"/>
            <a:ext cx="888365" cy="711200"/>
          </a:xfrm>
          <a:custGeom>
            <a:avLst/>
            <a:gdLst/>
            <a:ahLst/>
            <a:cxnLst/>
            <a:rect l="l" t="t" r="r" b="b"/>
            <a:pathLst>
              <a:path w="888365" h="711200">
                <a:moveTo>
                  <a:pt x="887775" y="711181"/>
                </a:moveTo>
                <a:lnTo>
                  <a:pt x="257206" y="711181"/>
                </a:lnTo>
                <a:lnTo>
                  <a:pt x="210973" y="707038"/>
                </a:lnTo>
                <a:lnTo>
                  <a:pt x="167458" y="695090"/>
                </a:lnTo>
                <a:lnTo>
                  <a:pt x="127389" y="676065"/>
                </a:lnTo>
                <a:lnTo>
                  <a:pt x="91491" y="650690"/>
                </a:lnTo>
                <a:lnTo>
                  <a:pt x="60491" y="619690"/>
                </a:lnTo>
                <a:lnTo>
                  <a:pt x="35116" y="583792"/>
                </a:lnTo>
                <a:lnTo>
                  <a:pt x="16091" y="543723"/>
                </a:lnTo>
                <a:lnTo>
                  <a:pt x="4143" y="500208"/>
                </a:lnTo>
                <a:lnTo>
                  <a:pt x="0" y="453975"/>
                </a:lnTo>
                <a:lnTo>
                  <a:pt x="0" y="257205"/>
                </a:lnTo>
                <a:lnTo>
                  <a:pt x="4143" y="210972"/>
                </a:lnTo>
                <a:lnTo>
                  <a:pt x="16091" y="167458"/>
                </a:lnTo>
                <a:lnTo>
                  <a:pt x="35116" y="127389"/>
                </a:lnTo>
                <a:lnTo>
                  <a:pt x="60491" y="91491"/>
                </a:lnTo>
                <a:lnTo>
                  <a:pt x="91491" y="60491"/>
                </a:lnTo>
                <a:lnTo>
                  <a:pt x="127389" y="35116"/>
                </a:lnTo>
                <a:lnTo>
                  <a:pt x="167458" y="16091"/>
                </a:lnTo>
                <a:lnTo>
                  <a:pt x="210973" y="4143"/>
                </a:lnTo>
                <a:lnTo>
                  <a:pt x="257206" y="0"/>
                </a:lnTo>
                <a:lnTo>
                  <a:pt x="887775" y="0"/>
                </a:lnTo>
                <a:lnTo>
                  <a:pt x="887775" y="7111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304224" y="5214477"/>
            <a:ext cx="888365" cy="1575435"/>
          </a:xfrm>
          <a:custGeom>
            <a:avLst/>
            <a:gdLst/>
            <a:ahLst/>
            <a:cxnLst/>
            <a:rect l="l" t="t" r="r" b="b"/>
            <a:pathLst>
              <a:path w="888365" h="1575434">
                <a:moveTo>
                  <a:pt x="887775" y="1574993"/>
                </a:moveTo>
                <a:lnTo>
                  <a:pt x="246281" y="1574993"/>
                </a:lnTo>
                <a:lnTo>
                  <a:pt x="196647" y="1569990"/>
                </a:lnTo>
                <a:lnTo>
                  <a:pt x="150417" y="1555639"/>
                </a:lnTo>
                <a:lnTo>
                  <a:pt x="108583" y="1532932"/>
                </a:lnTo>
                <a:lnTo>
                  <a:pt x="72134" y="1502859"/>
                </a:lnTo>
                <a:lnTo>
                  <a:pt x="42061" y="1466410"/>
                </a:lnTo>
                <a:lnTo>
                  <a:pt x="19354" y="1424576"/>
                </a:lnTo>
                <a:lnTo>
                  <a:pt x="5003" y="1378346"/>
                </a:lnTo>
                <a:lnTo>
                  <a:pt x="0" y="1328711"/>
                </a:lnTo>
                <a:lnTo>
                  <a:pt x="0" y="246281"/>
                </a:lnTo>
                <a:lnTo>
                  <a:pt x="5003" y="196647"/>
                </a:lnTo>
                <a:lnTo>
                  <a:pt x="19354" y="150417"/>
                </a:lnTo>
                <a:lnTo>
                  <a:pt x="42061" y="108583"/>
                </a:lnTo>
                <a:lnTo>
                  <a:pt x="72134" y="72134"/>
                </a:lnTo>
                <a:lnTo>
                  <a:pt x="108583" y="42061"/>
                </a:lnTo>
                <a:lnTo>
                  <a:pt x="150417" y="19354"/>
                </a:lnTo>
                <a:lnTo>
                  <a:pt x="196647" y="5003"/>
                </a:lnTo>
                <a:lnTo>
                  <a:pt x="246281" y="0"/>
                </a:lnTo>
                <a:lnTo>
                  <a:pt x="887775" y="0"/>
                </a:lnTo>
                <a:lnTo>
                  <a:pt x="887775" y="1574993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40815" y="0"/>
            <a:ext cx="4651375" cy="4232275"/>
          </a:xfrm>
          <a:custGeom>
            <a:avLst/>
            <a:gdLst/>
            <a:ahLst/>
            <a:cxnLst/>
            <a:rect l="l" t="t" r="r" b="b"/>
            <a:pathLst>
              <a:path w="4651375" h="4232275">
                <a:moveTo>
                  <a:pt x="4651184" y="4232178"/>
                </a:moveTo>
                <a:lnTo>
                  <a:pt x="2439014" y="4232178"/>
                </a:lnTo>
                <a:lnTo>
                  <a:pt x="2390087" y="4230097"/>
                </a:lnTo>
                <a:lnTo>
                  <a:pt x="2342314" y="4223966"/>
                </a:lnTo>
                <a:lnTo>
                  <a:pt x="2295868" y="4213956"/>
                </a:lnTo>
                <a:lnTo>
                  <a:pt x="2250918" y="4200237"/>
                </a:lnTo>
                <a:lnTo>
                  <a:pt x="2207635" y="4182979"/>
                </a:lnTo>
                <a:lnTo>
                  <a:pt x="2166188" y="4162353"/>
                </a:lnTo>
                <a:lnTo>
                  <a:pt x="2126747" y="4138528"/>
                </a:lnTo>
                <a:lnTo>
                  <a:pt x="2089484" y="4111676"/>
                </a:lnTo>
                <a:lnTo>
                  <a:pt x="2054568" y="4081965"/>
                </a:lnTo>
                <a:lnTo>
                  <a:pt x="2022170" y="4049567"/>
                </a:lnTo>
                <a:lnTo>
                  <a:pt x="1992459" y="4014651"/>
                </a:lnTo>
                <a:lnTo>
                  <a:pt x="1965607" y="3977388"/>
                </a:lnTo>
                <a:lnTo>
                  <a:pt x="1941782" y="3937947"/>
                </a:lnTo>
                <a:lnTo>
                  <a:pt x="1921156" y="3896501"/>
                </a:lnTo>
                <a:lnTo>
                  <a:pt x="1903898" y="3853217"/>
                </a:lnTo>
                <a:lnTo>
                  <a:pt x="1890179" y="3808267"/>
                </a:lnTo>
                <a:lnTo>
                  <a:pt x="1880169" y="3761821"/>
                </a:lnTo>
                <a:lnTo>
                  <a:pt x="1874038" y="3714048"/>
                </a:lnTo>
                <a:lnTo>
                  <a:pt x="1871956" y="3665120"/>
                </a:lnTo>
                <a:lnTo>
                  <a:pt x="1871956" y="3008835"/>
                </a:lnTo>
                <a:lnTo>
                  <a:pt x="1860479" y="2894965"/>
                </a:lnTo>
                <a:lnTo>
                  <a:pt x="1849442" y="2849227"/>
                </a:lnTo>
                <a:lnTo>
                  <a:pt x="1835370" y="2804753"/>
                </a:lnTo>
                <a:lnTo>
                  <a:pt x="1818381" y="2761661"/>
                </a:lnTo>
                <a:lnTo>
                  <a:pt x="1798591" y="2720067"/>
                </a:lnTo>
                <a:lnTo>
                  <a:pt x="1776117" y="2680089"/>
                </a:lnTo>
                <a:lnTo>
                  <a:pt x="1751076" y="2641843"/>
                </a:lnTo>
                <a:lnTo>
                  <a:pt x="1723585" y="2605446"/>
                </a:lnTo>
                <a:lnTo>
                  <a:pt x="1693761" y="2571015"/>
                </a:lnTo>
                <a:lnTo>
                  <a:pt x="1661720" y="2538667"/>
                </a:lnTo>
                <a:lnTo>
                  <a:pt x="1627580" y="2508519"/>
                </a:lnTo>
                <a:lnTo>
                  <a:pt x="1591456" y="2480687"/>
                </a:lnTo>
                <a:lnTo>
                  <a:pt x="1553467" y="2455289"/>
                </a:lnTo>
                <a:lnTo>
                  <a:pt x="1513730" y="2432442"/>
                </a:lnTo>
                <a:lnTo>
                  <a:pt x="1472359" y="2412261"/>
                </a:lnTo>
                <a:lnTo>
                  <a:pt x="1429474" y="2394864"/>
                </a:lnTo>
                <a:lnTo>
                  <a:pt x="1385190" y="2380369"/>
                </a:lnTo>
                <a:lnTo>
                  <a:pt x="1339625" y="2368891"/>
                </a:lnTo>
                <a:lnTo>
                  <a:pt x="1292895" y="2360548"/>
                </a:lnTo>
                <a:lnTo>
                  <a:pt x="1245118" y="2355456"/>
                </a:lnTo>
                <a:lnTo>
                  <a:pt x="1196409" y="2353733"/>
                </a:lnTo>
                <a:lnTo>
                  <a:pt x="572887" y="2353733"/>
                </a:lnTo>
                <a:lnTo>
                  <a:pt x="525901" y="2351834"/>
                </a:lnTo>
                <a:lnTo>
                  <a:pt x="479962" y="2346235"/>
                </a:lnTo>
                <a:lnTo>
                  <a:pt x="435216" y="2337084"/>
                </a:lnTo>
                <a:lnTo>
                  <a:pt x="391811" y="2324527"/>
                </a:lnTo>
                <a:lnTo>
                  <a:pt x="349894" y="2308713"/>
                </a:lnTo>
                <a:lnTo>
                  <a:pt x="309613" y="2289789"/>
                </a:lnTo>
                <a:lnTo>
                  <a:pt x="271115" y="2267901"/>
                </a:lnTo>
                <a:lnTo>
                  <a:pt x="234548" y="2243199"/>
                </a:lnTo>
                <a:lnTo>
                  <a:pt x="200058" y="2215829"/>
                </a:lnTo>
                <a:lnTo>
                  <a:pt x="167795" y="2185938"/>
                </a:lnTo>
                <a:lnTo>
                  <a:pt x="137904" y="2153675"/>
                </a:lnTo>
                <a:lnTo>
                  <a:pt x="110534" y="2119186"/>
                </a:lnTo>
                <a:lnTo>
                  <a:pt x="85831" y="2082618"/>
                </a:lnTo>
                <a:lnTo>
                  <a:pt x="63944" y="2044121"/>
                </a:lnTo>
                <a:lnTo>
                  <a:pt x="45020" y="2003839"/>
                </a:lnTo>
                <a:lnTo>
                  <a:pt x="29206" y="1961923"/>
                </a:lnTo>
                <a:lnTo>
                  <a:pt x="16649" y="1918517"/>
                </a:lnTo>
                <a:lnTo>
                  <a:pt x="7498" y="1873771"/>
                </a:lnTo>
                <a:lnTo>
                  <a:pt x="1899" y="1827832"/>
                </a:lnTo>
                <a:lnTo>
                  <a:pt x="0" y="1780846"/>
                </a:lnTo>
                <a:lnTo>
                  <a:pt x="0" y="0"/>
                </a:lnTo>
                <a:lnTo>
                  <a:pt x="4651184" y="0"/>
                </a:lnTo>
                <a:lnTo>
                  <a:pt x="4651184" y="4232178"/>
                </a:lnTo>
                <a:close/>
              </a:path>
            </a:pathLst>
          </a:custGeom>
          <a:solidFill>
            <a:srgbClr val="FFFFFF">
              <a:alpha val="4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1223" y="1012977"/>
            <a:ext cx="957834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400" spc="155" dirty="0"/>
              <a:t>Practical</a:t>
            </a:r>
            <a:r>
              <a:rPr sz="4400" spc="-215" dirty="0"/>
              <a:t> </a:t>
            </a:r>
            <a:r>
              <a:rPr sz="4400" dirty="0"/>
              <a:t>Example:</a:t>
            </a:r>
            <a:r>
              <a:rPr sz="4400" spc="-210" dirty="0"/>
              <a:t> </a:t>
            </a:r>
            <a:r>
              <a:rPr sz="4400" dirty="0"/>
              <a:t>Analyzing</a:t>
            </a:r>
            <a:r>
              <a:rPr sz="4400" spc="-210" dirty="0"/>
              <a:t> </a:t>
            </a:r>
            <a:r>
              <a:rPr sz="4400" spc="160" dirty="0"/>
              <a:t>Sales </a:t>
            </a:r>
            <a:r>
              <a:rPr sz="4400" spc="175" dirty="0"/>
              <a:t>Data</a:t>
            </a:r>
            <a:endParaRPr sz="4400"/>
          </a:p>
        </p:txBody>
      </p:sp>
      <p:sp>
        <p:nvSpPr>
          <p:cNvPr id="8" name="object 8"/>
          <p:cNvSpPr txBox="1"/>
          <p:nvPr/>
        </p:nvSpPr>
        <p:spPr>
          <a:xfrm>
            <a:off x="911225" y="2451286"/>
            <a:ext cx="10347325" cy="350774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800" spc="-65" dirty="0">
                <a:solidFill>
                  <a:srgbClr val="1B212C"/>
                </a:solidFill>
                <a:latin typeface="Arial Black"/>
                <a:cs typeface="Arial Black"/>
              </a:rPr>
              <a:t>Loading</a:t>
            </a:r>
            <a:r>
              <a:rPr sz="1800" spc="-17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45" dirty="0">
                <a:solidFill>
                  <a:srgbClr val="1B212C"/>
                </a:solidFill>
                <a:latin typeface="Arial Black"/>
                <a:cs typeface="Arial Black"/>
              </a:rPr>
              <a:t>example</a:t>
            </a:r>
            <a:r>
              <a:rPr sz="1800" spc="-16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1B212C"/>
                </a:solidFill>
                <a:latin typeface="Arial Black"/>
                <a:cs typeface="Arial Black"/>
              </a:rPr>
              <a:t>sales</a:t>
            </a:r>
            <a:r>
              <a:rPr sz="1800" spc="-16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B212C"/>
                </a:solidFill>
                <a:latin typeface="Arial Black"/>
                <a:cs typeface="Arial Black"/>
              </a:rPr>
              <a:t>dataset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14999"/>
              </a:lnSpc>
              <a:spcBef>
                <a:spcPts val="45"/>
              </a:spcBef>
            </a:pPr>
            <a:r>
              <a:rPr sz="1600" spc="-50" dirty="0">
                <a:solidFill>
                  <a:srgbClr val="1B212C"/>
                </a:solidFill>
                <a:latin typeface="Lucida Sans Unicode"/>
                <a:cs typeface="Lucida Sans Unicode"/>
              </a:rPr>
              <a:t>Let’s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load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sample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sales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dataset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demonstrate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the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analysis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process.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Using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Pandas’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1B212C"/>
                </a:solidFill>
                <a:latin typeface="Lucida Sans Unicode"/>
                <a:cs typeface="Lucida Sans Unicode"/>
              </a:rPr>
              <a:t>`read_csv`,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we'll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bring</a:t>
            </a:r>
            <a:r>
              <a:rPr sz="1600" spc="-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this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data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into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Python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-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explore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sales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1B212C"/>
                </a:solidFill>
                <a:latin typeface="Lucida Sans Unicode"/>
                <a:cs typeface="Lucida Sans Unicode"/>
              </a:rPr>
              <a:t>figures,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regions,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-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time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periods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uncover</a:t>
            </a:r>
            <a:r>
              <a:rPr sz="1600" spc="-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meaningful insights.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800" spc="-80" dirty="0">
                <a:solidFill>
                  <a:srgbClr val="1B212C"/>
                </a:solidFill>
                <a:latin typeface="Arial Black"/>
                <a:cs typeface="Arial Black"/>
              </a:rPr>
              <a:t>Exploring</a:t>
            </a:r>
            <a:r>
              <a:rPr sz="1800" spc="-18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65" dirty="0">
                <a:solidFill>
                  <a:srgbClr val="1B212C"/>
                </a:solidFill>
                <a:latin typeface="Arial Black"/>
                <a:cs typeface="Arial Black"/>
              </a:rPr>
              <a:t>key</a:t>
            </a:r>
            <a:r>
              <a:rPr sz="1800" spc="-17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60" dirty="0">
                <a:solidFill>
                  <a:srgbClr val="1B212C"/>
                </a:solidFill>
                <a:latin typeface="Arial Black"/>
                <a:cs typeface="Arial Black"/>
              </a:rPr>
              <a:t>metrics</a:t>
            </a:r>
            <a:r>
              <a:rPr sz="1800" spc="-18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1B212C"/>
                </a:solidFill>
                <a:latin typeface="Arial Black"/>
                <a:cs typeface="Arial Black"/>
              </a:rPr>
              <a:t>and</a:t>
            </a:r>
            <a:r>
              <a:rPr sz="1800" spc="-17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1B212C"/>
                </a:solidFill>
                <a:latin typeface="Arial Black"/>
                <a:cs typeface="Arial Black"/>
              </a:rPr>
              <a:t>trends</a:t>
            </a:r>
            <a:endParaRPr sz="1800">
              <a:latin typeface="Arial Black"/>
              <a:cs typeface="Arial Black"/>
            </a:endParaRPr>
          </a:p>
          <a:p>
            <a:pPr marL="12700" marR="9525">
              <a:lnSpc>
                <a:spcPct val="114999"/>
              </a:lnSpc>
              <a:spcBef>
                <a:spcPts val="45"/>
              </a:spcBef>
            </a:pP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By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inspecting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70" dirty="0">
                <a:solidFill>
                  <a:srgbClr val="1B212C"/>
                </a:solidFill>
                <a:latin typeface="Lucida Sans Unicode"/>
                <a:cs typeface="Lucida Sans Unicode"/>
              </a:rPr>
              <a:t>summary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statistics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key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columns,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85" dirty="0">
                <a:solidFill>
                  <a:srgbClr val="1B212C"/>
                </a:solidFill>
                <a:latin typeface="Lucida Sans Unicode"/>
                <a:cs typeface="Lucida Sans Unicode"/>
              </a:rPr>
              <a:t>we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14" dirty="0">
                <a:solidFill>
                  <a:srgbClr val="1B212C"/>
                </a:solidFill>
                <a:latin typeface="Lucida Sans Unicode"/>
                <a:cs typeface="Lucida Sans Unicode"/>
              </a:rPr>
              <a:t>can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identify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trends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such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00" dirty="0">
                <a:solidFill>
                  <a:srgbClr val="1B212C"/>
                </a:solidFill>
                <a:latin typeface="Lucida Sans Unicode"/>
                <a:cs typeface="Lucida Sans Unicode"/>
              </a:rPr>
              <a:t>as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5" dirty="0">
                <a:solidFill>
                  <a:srgbClr val="1B212C"/>
                </a:solidFill>
                <a:latin typeface="Lucida Sans Unicode"/>
                <a:cs typeface="Lucida Sans Unicode"/>
              </a:rPr>
              <a:t>peak</a:t>
            </a:r>
            <a:r>
              <a:rPr sz="1600" spc="-1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sales</a:t>
            </a:r>
            <a:r>
              <a:rPr sz="1600" spc="-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periods,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top-performing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products,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regional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differences,</a:t>
            </a:r>
            <a:r>
              <a:rPr sz="16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gaining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185" dirty="0">
                <a:solidFill>
                  <a:srgbClr val="1B212C"/>
                </a:solidFill>
                <a:latin typeface="Lucida Sans Unicode"/>
                <a:cs typeface="Lucida Sans Unicode"/>
              </a:rPr>
              <a:t>a</a:t>
            </a:r>
            <a:r>
              <a:rPr sz="16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clearer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picture</a:t>
            </a:r>
            <a:r>
              <a:rPr sz="16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of</a:t>
            </a:r>
            <a:r>
              <a:rPr sz="1600" spc="2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sales</a:t>
            </a:r>
            <a:r>
              <a:rPr sz="1600" spc="2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performance.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800" spc="-55" dirty="0">
                <a:solidFill>
                  <a:srgbClr val="1B212C"/>
                </a:solidFill>
                <a:latin typeface="Arial Black"/>
                <a:cs typeface="Arial Black"/>
              </a:rPr>
              <a:t>Visualizing</a:t>
            </a:r>
            <a:r>
              <a:rPr sz="1800" spc="-175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1B212C"/>
                </a:solidFill>
                <a:latin typeface="Arial Black"/>
                <a:cs typeface="Arial Black"/>
              </a:rPr>
              <a:t>sales</a:t>
            </a:r>
            <a:r>
              <a:rPr sz="1800" spc="-17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40" dirty="0">
                <a:solidFill>
                  <a:srgbClr val="1B212C"/>
                </a:solidFill>
                <a:latin typeface="Arial Black"/>
                <a:cs typeface="Arial Black"/>
              </a:rPr>
              <a:t>performance</a:t>
            </a:r>
            <a:r>
              <a:rPr sz="1800" spc="-17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50" dirty="0">
                <a:solidFill>
                  <a:srgbClr val="1B212C"/>
                </a:solidFill>
                <a:latin typeface="Arial Black"/>
                <a:cs typeface="Arial Black"/>
              </a:rPr>
              <a:t>over</a:t>
            </a:r>
            <a:r>
              <a:rPr sz="1800" spc="-170" dirty="0">
                <a:solidFill>
                  <a:srgbClr val="1B212C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1B212C"/>
                </a:solidFill>
                <a:latin typeface="Arial Black"/>
                <a:cs typeface="Arial Black"/>
              </a:rPr>
              <a:t>time</a:t>
            </a:r>
            <a:endParaRPr sz="1800">
              <a:latin typeface="Arial Black"/>
              <a:cs typeface="Arial Black"/>
            </a:endParaRPr>
          </a:p>
          <a:p>
            <a:pPr marL="12700" marR="772160">
              <a:lnSpc>
                <a:spcPct val="114999"/>
              </a:lnSpc>
              <a:spcBef>
                <a:spcPts val="45"/>
              </a:spcBef>
            </a:pP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Creating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line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charts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of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sales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over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months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or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quarters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helps</a:t>
            </a:r>
            <a:r>
              <a:rPr sz="1600" spc="5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visualize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growth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patterns,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seasonal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fluctuations,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95" dirty="0">
                <a:solidFill>
                  <a:srgbClr val="1B212C"/>
                </a:solidFill>
                <a:latin typeface="Lucida Sans Unicode"/>
                <a:cs typeface="Lucida Sans Unicode"/>
              </a:rPr>
              <a:t>and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overall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trends.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These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visual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insights</a:t>
            </a:r>
            <a:r>
              <a:rPr sz="1600" spc="45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support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strategic</a:t>
            </a:r>
            <a:r>
              <a:rPr sz="1600" spc="40" dirty="0">
                <a:solidFill>
                  <a:srgbClr val="1B212C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1B212C"/>
                </a:solidFill>
                <a:latin typeface="Lucida Sans Unicode"/>
                <a:cs typeface="Lucida Sans Unicode"/>
              </a:rPr>
              <a:t>decision-</a:t>
            </a:r>
            <a:r>
              <a:rPr sz="1600" spc="-10" dirty="0">
                <a:solidFill>
                  <a:srgbClr val="1B212C"/>
                </a:solidFill>
                <a:latin typeface="Lucida Sans Unicode"/>
                <a:cs typeface="Lucida Sans Unicode"/>
              </a:rPr>
              <a:t>making.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7300" y="0"/>
            <a:ext cx="1245235" cy="2065655"/>
          </a:xfrm>
          <a:custGeom>
            <a:avLst/>
            <a:gdLst/>
            <a:ahLst/>
            <a:cxnLst/>
            <a:rect l="l" t="t" r="r" b="b"/>
            <a:pathLst>
              <a:path w="1245234" h="2065655">
                <a:moveTo>
                  <a:pt x="1244699" y="2065193"/>
                </a:moveTo>
                <a:lnTo>
                  <a:pt x="306179" y="2065193"/>
                </a:lnTo>
                <a:lnTo>
                  <a:pt x="256515" y="2061186"/>
                </a:lnTo>
                <a:lnTo>
                  <a:pt x="209403" y="2049584"/>
                </a:lnTo>
                <a:lnTo>
                  <a:pt x="165472" y="2031018"/>
                </a:lnTo>
                <a:lnTo>
                  <a:pt x="125353" y="2006119"/>
                </a:lnTo>
                <a:lnTo>
                  <a:pt x="89677" y="1975516"/>
                </a:lnTo>
                <a:lnTo>
                  <a:pt x="59074" y="1939840"/>
                </a:lnTo>
                <a:lnTo>
                  <a:pt x="34175" y="1899721"/>
                </a:lnTo>
                <a:lnTo>
                  <a:pt x="15609" y="1855790"/>
                </a:lnTo>
                <a:lnTo>
                  <a:pt x="4007" y="1808678"/>
                </a:lnTo>
                <a:lnTo>
                  <a:pt x="0" y="1759014"/>
                </a:lnTo>
                <a:lnTo>
                  <a:pt x="0" y="0"/>
                </a:lnTo>
                <a:lnTo>
                  <a:pt x="1244699" y="0"/>
                </a:lnTo>
                <a:lnTo>
                  <a:pt x="1244699" y="2065193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447245" y="4367117"/>
            <a:ext cx="1744980" cy="1109980"/>
          </a:xfrm>
          <a:custGeom>
            <a:avLst/>
            <a:gdLst/>
            <a:ahLst/>
            <a:cxnLst/>
            <a:rect l="l" t="t" r="r" b="b"/>
            <a:pathLst>
              <a:path w="1744979" h="1109979">
                <a:moveTo>
                  <a:pt x="1744755" y="1109942"/>
                </a:moveTo>
                <a:lnTo>
                  <a:pt x="401422" y="1109942"/>
                </a:lnTo>
                <a:lnTo>
                  <a:pt x="354608" y="1107242"/>
                </a:lnTo>
                <a:lnTo>
                  <a:pt x="309380" y="1099340"/>
                </a:lnTo>
                <a:lnTo>
                  <a:pt x="266039" y="1086540"/>
                </a:lnTo>
                <a:lnTo>
                  <a:pt x="224887" y="1069141"/>
                </a:lnTo>
                <a:lnTo>
                  <a:pt x="186224" y="1047446"/>
                </a:lnTo>
                <a:lnTo>
                  <a:pt x="150353" y="1021754"/>
                </a:lnTo>
                <a:lnTo>
                  <a:pt x="117573" y="992368"/>
                </a:lnTo>
                <a:lnTo>
                  <a:pt x="88188" y="959589"/>
                </a:lnTo>
                <a:lnTo>
                  <a:pt x="62496" y="923718"/>
                </a:lnTo>
                <a:lnTo>
                  <a:pt x="40801" y="885055"/>
                </a:lnTo>
                <a:lnTo>
                  <a:pt x="23402" y="843903"/>
                </a:lnTo>
                <a:lnTo>
                  <a:pt x="10601" y="800563"/>
                </a:lnTo>
                <a:lnTo>
                  <a:pt x="2700" y="755334"/>
                </a:lnTo>
                <a:lnTo>
                  <a:pt x="0" y="708520"/>
                </a:lnTo>
                <a:lnTo>
                  <a:pt x="0" y="401421"/>
                </a:lnTo>
                <a:lnTo>
                  <a:pt x="2700" y="354607"/>
                </a:lnTo>
                <a:lnTo>
                  <a:pt x="10601" y="309379"/>
                </a:lnTo>
                <a:lnTo>
                  <a:pt x="23402" y="266038"/>
                </a:lnTo>
                <a:lnTo>
                  <a:pt x="40801" y="224886"/>
                </a:lnTo>
                <a:lnTo>
                  <a:pt x="62496" y="186224"/>
                </a:lnTo>
                <a:lnTo>
                  <a:pt x="88188" y="150352"/>
                </a:lnTo>
                <a:lnTo>
                  <a:pt x="117573" y="117573"/>
                </a:lnTo>
                <a:lnTo>
                  <a:pt x="150353" y="88187"/>
                </a:lnTo>
                <a:lnTo>
                  <a:pt x="186224" y="62496"/>
                </a:lnTo>
                <a:lnTo>
                  <a:pt x="224887" y="40800"/>
                </a:lnTo>
                <a:lnTo>
                  <a:pt x="266039" y="23402"/>
                </a:lnTo>
                <a:lnTo>
                  <a:pt x="309380" y="10601"/>
                </a:lnTo>
                <a:lnTo>
                  <a:pt x="354608" y="2700"/>
                </a:lnTo>
                <a:lnTo>
                  <a:pt x="401422" y="0"/>
                </a:lnTo>
                <a:lnTo>
                  <a:pt x="1744755" y="0"/>
                </a:lnTo>
                <a:lnTo>
                  <a:pt x="1744755" y="1109942"/>
                </a:lnTo>
                <a:close/>
              </a:path>
            </a:pathLst>
          </a:custGeom>
          <a:solidFill>
            <a:srgbClr val="FACE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536305" y="5696872"/>
            <a:ext cx="655955" cy="1161415"/>
          </a:xfrm>
          <a:custGeom>
            <a:avLst/>
            <a:gdLst/>
            <a:ahLst/>
            <a:cxnLst/>
            <a:rect l="l" t="t" r="r" b="b"/>
            <a:pathLst>
              <a:path w="655954" h="1161415">
                <a:moveTo>
                  <a:pt x="655695" y="1161128"/>
                </a:moveTo>
                <a:lnTo>
                  <a:pt x="0" y="1161128"/>
                </a:lnTo>
                <a:lnTo>
                  <a:pt x="0" y="384373"/>
                </a:lnTo>
                <a:lnTo>
                  <a:pt x="2994" y="336158"/>
                </a:lnTo>
                <a:lnTo>
                  <a:pt x="11739" y="289730"/>
                </a:lnTo>
                <a:lnTo>
                  <a:pt x="25872" y="245450"/>
                </a:lnTo>
                <a:lnTo>
                  <a:pt x="45035" y="203677"/>
                </a:lnTo>
                <a:lnTo>
                  <a:pt x="68866" y="164772"/>
                </a:lnTo>
                <a:lnTo>
                  <a:pt x="97007" y="129095"/>
                </a:lnTo>
                <a:lnTo>
                  <a:pt x="129095" y="97007"/>
                </a:lnTo>
                <a:lnTo>
                  <a:pt x="164772" y="68866"/>
                </a:lnTo>
                <a:lnTo>
                  <a:pt x="203677" y="45035"/>
                </a:lnTo>
                <a:lnTo>
                  <a:pt x="245450" y="25872"/>
                </a:lnTo>
                <a:lnTo>
                  <a:pt x="289730" y="11739"/>
                </a:lnTo>
                <a:lnTo>
                  <a:pt x="336158" y="2994"/>
                </a:lnTo>
                <a:lnTo>
                  <a:pt x="384373" y="0"/>
                </a:lnTo>
                <a:lnTo>
                  <a:pt x="655695" y="0"/>
                </a:lnTo>
                <a:lnTo>
                  <a:pt x="655695" y="11611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641502"/>
            <a:ext cx="788035" cy="2427605"/>
          </a:xfrm>
          <a:custGeom>
            <a:avLst/>
            <a:gdLst/>
            <a:ahLst/>
            <a:cxnLst/>
            <a:rect l="l" t="t" r="r" b="b"/>
            <a:pathLst>
              <a:path w="788035" h="2427604">
                <a:moveTo>
                  <a:pt x="541216" y="2427489"/>
                </a:moveTo>
                <a:lnTo>
                  <a:pt x="0" y="2427489"/>
                </a:lnTo>
                <a:lnTo>
                  <a:pt x="0" y="0"/>
                </a:lnTo>
                <a:lnTo>
                  <a:pt x="541216" y="0"/>
                </a:lnTo>
                <a:lnTo>
                  <a:pt x="589488" y="4775"/>
                </a:lnTo>
                <a:lnTo>
                  <a:pt x="635464" y="18747"/>
                </a:lnTo>
                <a:lnTo>
                  <a:pt x="677854" y="41378"/>
                </a:lnTo>
                <a:lnTo>
                  <a:pt x="715364" y="72134"/>
                </a:lnTo>
                <a:lnTo>
                  <a:pt x="746120" y="109644"/>
                </a:lnTo>
                <a:lnTo>
                  <a:pt x="768751" y="152034"/>
                </a:lnTo>
                <a:lnTo>
                  <a:pt x="782723" y="198010"/>
                </a:lnTo>
                <a:lnTo>
                  <a:pt x="787498" y="246282"/>
                </a:lnTo>
                <a:lnTo>
                  <a:pt x="787498" y="2181207"/>
                </a:lnTo>
                <a:lnTo>
                  <a:pt x="782495" y="2230841"/>
                </a:lnTo>
                <a:lnTo>
                  <a:pt x="768144" y="2277071"/>
                </a:lnTo>
                <a:lnTo>
                  <a:pt x="745437" y="2318906"/>
                </a:lnTo>
                <a:lnTo>
                  <a:pt x="715364" y="2355355"/>
                </a:lnTo>
                <a:lnTo>
                  <a:pt x="678915" y="2385428"/>
                </a:lnTo>
                <a:lnTo>
                  <a:pt x="637080" y="2408135"/>
                </a:lnTo>
                <a:lnTo>
                  <a:pt x="590850" y="2422486"/>
                </a:lnTo>
                <a:lnTo>
                  <a:pt x="541216" y="2427489"/>
                </a:lnTo>
                <a:close/>
              </a:path>
            </a:pathLst>
          </a:custGeom>
          <a:solidFill>
            <a:srgbClr val="FFFFFF">
              <a:alpha val="4666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890271"/>
            <a:ext cx="1123950" cy="615950"/>
          </a:xfrm>
          <a:custGeom>
            <a:avLst/>
            <a:gdLst/>
            <a:ahLst/>
            <a:cxnLst/>
            <a:rect l="l" t="t" r="r" b="b"/>
            <a:pathLst>
              <a:path w="1123950" h="615950">
                <a:moveTo>
                  <a:pt x="1027456" y="615547"/>
                </a:moveTo>
                <a:lnTo>
                  <a:pt x="0" y="615547"/>
                </a:lnTo>
                <a:lnTo>
                  <a:pt x="0" y="0"/>
                </a:lnTo>
                <a:lnTo>
                  <a:pt x="1027456" y="0"/>
                </a:lnTo>
                <a:lnTo>
                  <a:pt x="1046322" y="1866"/>
                </a:lnTo>
                <a:lnTo>
                  <a:pt x="1095518" y="28191"/>
                </a:lnTo>
                <a:lnTo>
                  <a:pt x="1121843" y="77387"/>
                </a:lnTo>
                <a:lnTo>
                  <a:pt x="1123709" y="96253"/>
                </a:lnTo>
                <a:lnTo>
                  <a:pt x="1123709" y="519294"/>
                </a:lnTo>
                <a:lnTo>
                  <a:pt x="1116145" y="556760"/>
                </a:lnTo>
                <a:lnTo>
                  <a:pt x="1095518" y="587356"/>
                </a:lnTo>
                <a:lnTo>
                  <a:pt x="1064922" y="607983"/>
                </a:lnTo>
                <a:lnTo>
                  <a:pt x="1027456" y="615547"/>
                </a:lnTo>
                <a:close/>
              </a:path>
            </a:pathLst>
          </a:custGeom>
          <a:solidFill>
            <a:srgbClr val="D8E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79240" y="1334893"/>
            <a:ext cx="74695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90" dirty="0"/>
              <a:t>Conclusion</a:t>
            </a:r>
            <a:r>
              <a:rPr sz="4400" spc="-195" dirty="0"/>
              <a:t> </a:t>
            </a:r>
            <a:r>
              <a:rPr sz="4400" spc="260" dirty="0"/>
              <a:t>and</a:t>
            </a:r>
            <a:r>
              <a:rPr sz="4400" spc="-195" dirty="0"/>
              <a:t> </a:t>
            </a:r>
            <a:r>
              <a:rPr sz="4400" spc="-155" dirty="0"/>
              <a:t>Next</a:t>
            </a:r>
            <a:r>
              <a:rPr sz="4400" spc="-195" dirty="0"/>
              <a:t> </a:t>
            </a:r>
            <a:r>
              <a:rPr sz="4400" spc="125" dirty="0"/>
              <a:t>Steps</a:t>
            </a:r>
            <a:endParaRPr sz="440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pc="-95" dirty="0"/>
              <a:t>Recap</a:t>
            </a:r>
            <a:r>
              <a:rPr spc="-190" dirty="0"/>
              <a:t> </a:t>
            </a:r>
            <a:r>
              <a:rPr spc="-65" dirty="0"/>
              <a:t>of</a:t>
            </a:r>
            <a:r>
              <a:rPr spc="-185" dirty="0"/>
              <a:t> </a:t>
            </a:r>
            <a:r>
              <a:rPr spc="-65" dirty="0"/>
              <a:t>key</a:t>
            </a:r>
            <a:r>
              <a:rPr spc="-190" dirty="0"/>
              <a:t> </a:t>
            </a:r>
            <a:r>
              <a:rPr spc="-75" dirty="0"/>
              <a:t>concepts</a:t>
            </a:r>
            <a:r>
              <a:rPr spc="-185" dirty="0"/>
              <a:t> </a:t>
            </a:r>
            <a:r>
              <a:rPr spc="-10" dirty="0"/>
              <a:t>covered</a:t>
            </a:r>
          </a:p>
          <a:p>
            <a:pPr marL="12700" marR="229870">
              <a:lnSpc>
                <a:spcPct val="114999"/>
              </a:lnSpc>
              <a:spcBef>
                <a:spcPts val="45"/>
              </a:spcBef>
            </a:pPr>
            <a:r>
              <a:rPr sz="1600" dirty="0">
                <a:latin typeface="Lucida Sans Unicode"/>
                <a:cs typeface="Lucida Sans Unicode"/>
              </a:rPr>
              <a:t>Today,</a:t>
            </a:r>
            <a:r>
              <a:rPr sz="1600" spc="-35" dirty="0">
                <a:latin typeface="Lucida Sans Unicode"/>
                <a:cs typeface="Lucida Sans Unicode"/>
              </a:rPr>
              <a:t> </a:t>
            </a:r>
            <a:r>
              <a:rPr sz="1600" spc="85" dirty="0">
                <a:latin typeface="Lucida Sans Unicode"/>
                <a:cs typeface="Lucida Sans Unicode"/>
              </a:rPr>
              <a:t>we</a:t>
            </a:r>
            <a:r>
              <a:rPr sz="1600" spc="-35" dirty="0">
                <a:latin typeface="Lucida Sans Unicode"/>
                <a:cs typeface="Lucida Sans Unicode"/>
              </a:rPr>
              <a:t> </a:t>
            </a:r>
            <a:r>
              <a:rPr sz="1600" spc="60" dirty="0">
                <a:latin typeface="Lucida Sans Unicode"/>
                <a:cs typeface="Lucida Sans Unicode"/>
              </a:rPr>
              <a:t>covered</a:t>
            </a:r>
            <a:r>
              <a:rPr sz="1600" spc="-3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the</a:t>
            </a:r>
            <a:r>
              <a:rPr sz="1600" spc="-35" dirty="0">
                <a:latin typeface="Lucida Sans Unicode"/>
                <a:cs typeface="Lucida Sans Unicode"/>
              </a:rPr>
              <a:t> </a:t>
            </a:r>
            <a:r>
              <a:rPr sz="1600" spc="50" dirty="0">
                <a:latin typeface="Lucida Sans Unicode"/>
                <a:cs typeface="Lucida Sans Unicode"/>
              </a:rPr>
              <a:t>core</a:t>
            </a:r>
            <a:r>
              <a:rPr sz="1600" spc="-30" dirty="0">
                <a:latin typeface="Lucida Sans Unicode"/>
                <a:cs typeface="Lucida Sans Unicode"/>
              </a:rPr>
              <a:t> </a:t>
            </a:r>
            <a:r>
              <a:rPr sz="1600" spc="60" dirty="0">
                <a:latin typeface="Lucida Sans Unicode"/>
                <a:cs typeface="Lucida Sans Unicode"/>
              </a:rPr>
              <a:t>concepts</a:t>
            </a:r>
            <a:r>
              <a:rPr sz="1600" spc="-3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of</a:t>
            </a:r>
            <a:r>
              <a:rPr sz="1600" spc="-30" dirty="0">
                <a:latin typeface="Lucida Sans Unicode"/>
                <a:cs typeface="Lucida Sans Unicode"/>
              </a:rPr>
              <a:t> </a:t>
            </a:r>
            <a:r>
              <a:rPr sz="1600" spc="100" dirty="0">
                <a:latin typeface="Lucida Sans Unicode"/>
                <a:cs typeface="Lucida Sans Unicode"/>
              </a:rPr>
              <a:t>data</a:t>
            </a:r>
            <a:r>
              <a:rPr sz="1600" spc="-3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analysis</a:t>
            </a:r>
            <a:r>
              <a:rPr sz="1600" spc="-3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with</a:t>
            </a:r>
            <a:r>
              <a:rPr sz="1600" spc="-35" dirty="0">
                <a:latin typeface="Lucida Sans Unicode"/>
                <a:cs typeface="Lucida Sans Unicode"/>
              </a:rPr>
              <a:t> </a:t>
            </a:r>
            <a:r>
              <a:rPr sz="1600" spc="50" dirty="0">
                <a:latin typeface="Lucida Sans Unicode"/>
                <a:cs typeface="Lucida Sans Unicode"/>
              </a:rPr>
              <a:t>Pandas,</a:t>
            </a:r>
            <a:r>
              <a:rPr sz="1600" spc="-3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including</a:t>
            </a:r>
            <a:r>
              <a:rPr sz="1600" spc="-30" dirty="0">
                <a:latin typeface="Lucida Sans Unicode"/>
                <a:cs typeface="Lucida Sans Unicode"/>
              </a:rPr>
              <a:t> </a:t>
            </a:r>
            <a:r>
              <a:rPr sz="1600" spc="100" dirty="0">
                <a:latin typeface="Lucida Sans Unicode"/>
                <a:cs typeface="Lucida Sans Unicode"/>
              </a:rPr>
              <a:t>data</a:t>
            </a:r>
            <a:r>
              <a:rPr sz="1600" spc="-3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loading, </a:t>
            </a:r>
            <a:r>
              <a:rPr sz="1600" dirty="0">
                <a:latin typeface="Lucida Sans Unicode"/>
                <a:cs typeface="Lucida Sans Unicode"/>
              </a:rPr>
              <a:t>inspection,</a:t>
            </a:r>
            <a:r>
              <a:rPr sz="1600" spc="30" dirty="0">
                <a:latin typeface="Lucida Sans Unicode"/>
                <a:cs typeface="Lucida Sans Unicode"/>
              </a:rPr>
              <a:t> </a:t>
            </a:r>
            <a:r>
              <a:rPr sz="1600" spc="95" dirty="0">
                <a:latin typeface="Lucida Sans Unicode"/>
                <a:cs typeface="Lucida Sans Unicode"/>
              </a:rPr>
              <a:t>and</a:t>
            </a:r>
            <a:r>
              <a:rPr sz="1600" spc="3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manipulation,</a:t>
            </a:r>
            <a:r>
              <a:rPr sz="1600" spc="35" dirty="0">
                <a:latin typeface="Lucida Sans Unicode"/>
                <a:cs typeface="Lucida Sans Unicode"/>
              </a:rPr>
              <a:t> </a:t>
            </a:r>
            <a:r>
              <a:rPr sz="1600" spc="50" dirty="0">
                <a:latin typeface="Lucida Sans Unicode"/>
                <a:cs typeface="Lucida Sans Unicode"/>
              </a:rPr>
              <a:t>along</a:t>
            </a:r>
            <a:r>
              <a:rPr sz="1600" spc="3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with</a:t>
            </a:r>
            <a:r>
              <a:rPr sz="1600" spc="3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visualization</a:t>
            </a:r>
            <a:r>
              <a:rPr sz="1600" spc="3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techniques</a:t>
            </a:r>
            <a:r>
              <a:rPr sz="1600" spc="3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using</a:t>
            </a:r>
            <a:r>
              <a:rPr sz="1600" spc="3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Matplotlib.</a:t>
            </a:r>
            <a:r>
              <a:rPr sz="1600" spc="3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These</a:t>
            </a:r>
            <a:r>
              <a:rPr sz="1600" spc="3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skills </a:t>
            </a:r>
            <a:r>
              <a:rPr sz="1600" dirty="0">
                <a:latin typeface="Lucida Sans Unicode"/>
                <a:cs typeface="Lucida Sans Unicode"/>
              </a:rPr>
              <a:t>form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spc="185" dirty="0">
                <a:latin typeface="Lucida Sans Unicode"/>
                <a:cs typeface="Lucida Sans Unicode"/>
              </a:rPr>
              <a:t>a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vital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foundation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spc="-30" dirty="0">
                <a:latin typeface="Lucida Sans Unicode"/>
                <a:cs typeface="Lucida Sans Unicode"/>
              </a:rPr>
              <a:t>for</a:t>
            </a:r>
            <a:r>
              <a:rPr sz="1600" spc="20" dirty="0">
                <a:latin typeface="Lucida Sans Unicode"/>
                <a:cs typeface="Lucida Sans Unicode"/>
              </a:rPr>
              <a:t> </a:t>
            </a:r>
            <a:r>
              <a:rPr sz="1600" spc="90" dirty="0">
                <a:latin typeface="Lucida Sans Unicode"/>
                <a:cs typeface="Lucida Sans Unicode"/>
              </a:rPr>
              <a:t>any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spc="100" dirty="0">
                <a:latin typeface="Lucida Sans Unicode"/>
                <a:cs typeface="Lucida Sans Unicode"/>
              </a:rPr>
              <a:t>data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analysis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project.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pc="-100" dirty="0"/>
              <a:t>Resources</a:t>
            </a:r>
            <a:r>
              <a:rPr spc="-185" dirty="0"/>
              <a:t> </a:t>
            </a:r>
            <a:r>
              <a:rPr spc="-45" dirty="0"/>
              <a:t>for</a:t>
            </a:r>
            <a:r>
              <a:rPr spc="-180" dirty="0"/>
              <a:t> </a:t>
            </a:r>
            <a:r>
              <a:rPr spc="-45" dirty="0"/>
              <a:t>further</a:t>
            </a:r>
            <a:r>
              <a:rPr spc="-180" dirty="0"/>
              <a:t> </a:t>
            </a:r>
            <a:r>
              <a:rPr spc="-10" dirty="0"/>
              <a:t>learning</a:t>
            </a:r>
          </a:p>
          <a:p>
            <a:pPr marL="12700" marR="5080">
              <a:lnSpc>
                <a:spcPct val="114999"/>
              </a:lnSpc>
              <a:spcBef>
                <a:spcPts val="45"/>
              </a:spcBef>
            </a:pPr>
            <a:r>
              <a:rPr sz="1600" spc="-60" dirty="0">
                <a:latin typeface="Lucida Sans Unicode"/>
                <a:cs typeface="Lucida Sans Unicode"/>
              </a:rPr>
              <a:t>To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00" spc="75" dirty="0">
                <a:latin typeface="Lucida Sans Unicode"/>
                <a:cs typeface="Lucida Sans Unicode"/>
              </a:rPr>
              <a:t>deepen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your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understanding,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explore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official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documentation,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online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tutorials,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00" spc="95" dirty="0">
                <a:latin typeface="Lucida Sans Unicode"/>
                <a:cs typeface="Lucida Sans Unicode"/>
              </a:rPr>
              <a:t>and</a:t>
            </a:r>
            <a:r>
              <a:rPr sz="1600" spc="15" dirty="0">
                <a:latin typeface="Lucida Sans Unicode"/>
                <a:cs typeface="Lucida Sans Unicode"/>
              </a:rPr>
              <a:t> </a:t>
            </a:r>
            <a:r>
              <a:rPr sz="1600" spc="50" dirty="0">
                <a:latin typeface="Lucida Sans Unicode"/>
                <a:cs typeface="Lucida Sans Unicode"/>
              </a:rPr>
              <a:t>practice </a:t>
            </a:r>
            <a:r>
              <a:rPr sz="1600" dirty="0">
                <a:latin typeface="Lucida Sans Unicode"/>
                <a:cs typeface="Lucida Sans Unicode"/>
              </a:rPr>
              <a:t>datasets.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Platforms</a:t>
            </a:r>
            <a:r>
              <a:rPr sz="1600" spc="55" dirty="0">
                <a:latin typeface="Lucida Sans Unicode"/>
                <a:cs typeface="Lucida Sans Unicode"/>
              </a:rPr>
              <a:t> </a:t>
            </a:r>
            <a:r>
              <a:rPr sz="1600" spc="-45" dirty="0">
                <a:latin typeface="Lucida Sans Unicode"/>
                <a:cs typeface="Lucida Sans Unicode"/>
              </a:rPr>
              <a:t>like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Kaggle,</a:t>
            </a:r>
            <a:r>
              <a:rPr sz="1600" spc="55" dirty="0">
                <a:latin typeface="Lucida Sans Unicode"/>
                <a:cs typeface="Lucida Sans Unicode"/>
              </a:rPr>
              <a:t> </a:t>
            </a:r>
            <a:r>
              <a:rPr sz="1600" spc="65" dirty="0">
                <a:latin typeface="Lucida Sans Unicode"/>
                <a:cs typeface="Lucida Sans Unicode"/>
              </a:rPr>
              <a:t>DataCamp,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spc="95" dirty="0">
                <a:latin typeface="Lucida Sans Unicode"/>
                <a:cs typeface="Lucida Sans Unicode"/>
              </a:rPr>
              <a:t>and</a:t>
            </a:r>
            <a:r>
              <a:rPr sz="1600" spc="5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Coursera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offer</a:t>
            </a:r>
            <a:r>
              <a:rPr sz="1600" spc="5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excellent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courses</a:t>
            </a:r>
            <a:r>
              <a:rPr sz="1600" spc="5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to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expand</a:t>
            </a:r>
            <a:r>
              <a:rPr sz="1600" spc="55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your </a:t>
            </a:r>
            <a:r>
              <a:rPr sz="1600" spc="-10" dirty="0">
                <a:latin typeface="Lucida Sans Unicode"/>
                <a:cs typeface="Lucida Sans Unicode"/>
              </a:rPr>
              <a:t>skills.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pc="-55" dirty="0"/>
              <a:t>Encouragement</a:t>
            </a:r>
            <a:r>
              <a:rPr spc="-175" dirty="0"/>
              <a:t> </a:t>
            </a:r>
            <a:r>
              <a:rPr spc="-70" dirty="0"/>
              <a:t>to</a:t>
            </a:r>
            <a:r>
              <a:rPr spc="-175" dirty="0"/>
              <a:t> </a:t>
            </a:r>
            <a:r>
              <a:rPr spc="-70" dirty="0"/>
              <a:t>practice</a:t>
            </a:r>
            <a:r>
              <a:rPr spc="-175" dirty="0"/>
              <a:t> </a:t>
            </a:r>
            <a:r>
              <a:rPr spc="-85" dirty="0"/>
              <a:t>with</a:t>
            </a:r>
            <a:r>
              <a:rPr spc="-170" dirty="0"/>
              <a:t> </a:t>
            </a:r>
            <a:r>
              <a:rPr spc="-55" dirty="0"/>
              <a:t>real</a:t>
            </a:r>
            <a:r>
              <a:rPr spc="-175" dirty="0"/>
              <a:t> </a:t>
            </a:r>
            <a:r>
              <a:rPr spc="-10" dirty="0"/>
              <a:t>datasets</a:t>
            </a:r>
          </a:p>
          <a:p>
            <a:pPr marL="12700" marR="221615">
              <a:lnSpc>
                <a:spcPct val="114999"/>
              </a:lnSpc>
              <a:spcBef>
                <a:spcPts val="45"/>
              </a:spcBef>
            </a:pPr>
            <a:r>
              <a:rPr sz="1600" dirty="0">
                <a:latin typeface="Lucida Sans Unicode"/>
                <a:cs typeface="Lucida Sans Unicode"/>
              </a:rPr>
              <a:t>The</a:t>
            </a:r>
            <a:r>
              <a:rPr sz="1600" spc="4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best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spc="105" dirty="0">
                <a:latin typeface="Lucida Sans Unicode"/>
                <a:cs typeface="Lucida Sans Unicode"/>
              </a:rPr>
              <a:t>way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to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learn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is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through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hands-on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experience.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Start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analyzing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real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spc="65" dirty="0">
                <a:latin typeface="Lucida Sans Unicode"/>
                <a:cs typeface="Lucida Sans Unicode"/>
              </a:rPr>
              <a:t>datasets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related</a:t>
            </a:r>
            <a:r>
              <a:rPr sz="1600" spc="50" dirty="0">
                <a:latin typeface="Lucida Sans Unicode"/>
                <a:cs typeface="Lucida Sans Unicode"/>
              </a:rPr>
              <a:t> </a:t>
            </a:r>
            <a:r>
              <a:rPr sz="1600" spc="-25" dirty="0">
                <a:latin typeface="Lucida Sans Unicode"/>
                <a:cs typeface="Lucida Sans Unicode"/>
              </a:rPr>
              <a:t>to </a:t>
            </a:r>
            <a:r>
              <a:rPr sz="1600" dirty="0">
                <a:latin typeface="Lucida Sans Unicode"/>
                <a:cs typeface="Lucida Sans Unicode"/>
              </a:rPr>
              <a:t>your</a:t>
            </a:r>
            <a:r>
              <a:rPr sz="1600" spc="-2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interests</a:t>
            </a:r>
            <a:r>
              <a:rPr sz="1600" spc="-1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or</a:t>
            </a:r>
            <a:r>
              <a:rPr sz="1600" spc="-1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work</a:t>
            </a:r>
            <a:r>
              <a:rPr sz="1600" spc="-2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to</a:t>
            </a:r>
            <a:r>
              <a:rPr sz="1600" spc="-1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reinforce</a:t>
            </a:r>
            <a:r>
              <a:rPr sz="1600" spc="-1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your</a:t>
            </a:r>
            <a:r>
              <a:rPr sz="1600" spc="-15" dirty="0">
                <a:latin typeface="Lucida Sans Unicode"/>
                <a:cs typeface="Lucida Sans Unicode"/>
              </a:rPr>
              <a:t> </a:t>
            </a:r>
            <a:r>
              <a:rPr sz="1600" spc="-55" dirty="0">
                <a:latin typeface="Lucida Sans Unicode"/>
                <a:cs typeface="Lucida Sans Unicode"/>
              </a:rPr>
              <a:t>skills</a:t>
            </a:r>
            <a:r>
              <a:rPr sz="1600" spc="-20" dirty="0">
                <a:latin typeface="Lucida Sans Unicode"/>
                <a:cs typeface="Lucida Sans Unicode"/>
              </a:rPr>
              <a:t> </a:t>
            </a:r>
            <a:r>
              <a:rPr sz="1600" spc="95" dirty="0">
                <a:latin typeface="Lucida Sans Unicode"/>
                <a:cs typeface="Lucida Sans Unicode"/>
              </a:rPr>
              <a:t>and</a:t>
            </a:r>
            <a:r>
              <a:rPr sz="1600" spc="-1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discover</a:t>
            </a:r>
            <a:r>
              <a:rPr sz="1600" spc="-15" dirty="0">
                <a:latin typeface="Lucida Sans Unicode"/>
                <a:cs typeface="Lucida Sans Unicode"/>
              </a:rPr>
              <a:t> </a:t>
            </a:r>
            <a:r>
              <a:rPr sz="1600" spc="60" dirty="0">
                <a:latin typeface="Lucida Sans Unicode"/>
                <a:cs typeface="Lucida Sans Unicode"/>
              </a:rPr>
              <a:t>valuable</a:t>
            </a:r>
            <a:r>
              <a:rPr sz="1600" spc="-1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insights</a:t>
            </a:r>
            <a:r>
              <a:rPr sz="1600" spc="-2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through</a:t>
            </a:r>
            <a:r>
              <a:rPr sz="1600" spc="-1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practice.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73E9F-6BEE-3318-F6B8-BA3469645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92443"/>
          </a:xfrm>
        </p:spPr>
        <p:txBody>
          <a:bodyPr/>
          <a:lstStyle/>
          <a:p>
            <a:r>
              <a:rPr lang="en-US" b="1" u="sng" dirty="0"/>
              <a:t>THANK YOU</a:t>
            </a:r>
            <a:endParaRPr lang="en-IN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C8792-4A68-5467-1C4F-469DEB061D1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16858" y="2948940"/>
            <a:ext cx="8534400" cy="960120"/>
          </a:xfrm>
        </p:spPr>
        <p:txBody>
          <a:bodyPr/>
          <a:lstStyle/>
          <a:p>
            <a:r>
              <a:rPr lang="en-US" dirty="0"/>
              <a:t>A PRESENTATION BY :</a:t>
            </a:r>
          </a:p>
          <a:p>
            <a:r>
              <a:rPr lang="en-US" dirty="0"/>
              <a:t>Sonu Kumar Chaurasia</a:t>
            </a:r>
          </a:p>
          <a:p>
            <a:r>
              <a:rPr lang="en-US" dirty="0"/>
              <a:t>(202410101150047)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0951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1059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Lucida Sans Unicode</vt:lpstr>
      <vt:lpstr>Microsoft Sans Serif</vt:lpstr>
      <vt:lpstr>Office Theme</vt:lpstr>
      <vt:lpstr>Data Analysis Using Matplotlib and Pandas</vt:lpstr>
      <vt:lpstr>Agenda</vt:lpstr>
      <vt:lpstr>Introduction to Data Analysis</vt:lpstr>
      <vt:lpstr>Getting Started with Pandas</vt:lpstr>
      <vt:lpstr>Data Exploration with Pandas</vt:lpstr>
      <vt:lpstr>Introduction to Data Visualization</vt:lpstr>
      <vt:lpstr>Visualizing Data with Matplotlib</vt:lpstr>
      <vt:lpstr>Practical Example: Analyzing Sales Data</vt:lpstr>
      <vt:lpstr>Conclusion and 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1762848375360</dc:title>
  <cp:lastModifiedBy>Mohammad Salman Shaikh</cp:lastModifiedBy>
  <cp:revision>1</cp:revision>
  <dcterms:created xsi:type="dcterms:W3CDTF">2025-11-11T08:09:09Z</dcterms:created>
  <dcterms:modified xsi:type="dcterms:W3CDTF">2025-11-11T08:12:35Z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2025-11-11T00:00:00Z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2025-11-11T00:00:00Z</vt:filetime>
  </property>
</Properties>
</file>